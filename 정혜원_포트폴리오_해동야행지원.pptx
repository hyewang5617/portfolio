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7619695"/>
  <p:notesSz cx="7619695"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hyewang5617" TargetMode="External"/><Relationship Id="rId2" Type="http://schemas.openxmlformats.org/officeDocument/2006/relationships/hyperlink" Target="https://hyewang5617.github.io/Portfolio" TargetMode="Externa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youtu.be/cwB2SIBhPDU" TargetMode="External"/><Relationship Id="rId1"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youtu.be/2wTIE9nMQDM" TargetMode="Externa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868680"/>
            <a:ext cx="6400800" cy="822960"/>
          </a:xfrm>
          <a:prstGeom prst="rect">
            <a:avLst/>
          </a:prstGeom>
          <a:noFill/>
          <a:ln/>
        </p:spPr>
        <p:txBody>
          <a:bodyPr wrap="square" lIns="0" tIns="0" rIns="0" bIns="0" rtlCol="0" anchor="ctr"/>
          <a:lstStyle/>
          <a:p>
            <a:pPr indent="0" marL="0">
              <a:buNone/>
            </a:pPr>
            <a:r>
              <a:rPr lang="en-US" sz="4000" b="1" dirty="0">
                <a:solidFill>
                  <a:srgbClr val="121428"/>
                </a:solidFill>
                <a:latin typeface="Malgun Gothic" pitchFamily="34" charset="0"/>
                <a:ea typeface="Malgun Gothic" pitchFamily="34" charset="-122"/>
                <a:cs typeface="Malgun Gothic" pitchFamily="34" charset="-120"/>
              </a:rPr>
              <a:t>정혜원</a:t>
            </a:r>
            <a:endParaRPr lang="en-US" sz="4000" dirty="0"/>
          </a:p>
        </p:txBody>
      </p:sp>
      <p:sp>
        <p:nvSpPr>
          <p:cNvPr id="3" name="Text 1"/>
          <p:cNvSpPr txBox="1"/>
          <p:nvPr/>
        </p:nvSpPr>
        <p:spPr>
          <a:xfrm>
            <a:off x="640080" y="1600200"/>
            <a:ext cx="3657600" cy="274320"/>
          </a:xfrm>
          <a:prstGeom prst="rect">
            <a:avLst/>
          </a:prstGeom>
          <a:noFill/>
          <a:ln/>
        </p:spPr>
        <p:txBody>
          <a:bodyPr wrap="square" lIns="0" tIns="0" rIns="0" bIns="0" rtlCol="0" anchor="ctr"/>
          <a:lstStyle/>
          <a:p>
            <a:pPr indent="0" marL="0">
              <a:buNone/>
            </a:pPr>
            <a:r>
              <a:rPr lang="en-US" sz="1300" b="1" spc="200" kern="0" dirty="0">
                <a:solidFill>
                  <a:srgbClr val="3355CC"/>
                </a:solidFill>
                <a:latin typeface="Malgun Gothic" pitchFamily="34" charset="0"/>
                <a:ea typeface="Malgun Gothic" pitchFamily="34" charset="-122"/>
                <a:cs typeface="Malgun Gothic" pitchFamily="34" charset="-120"/>
              </a:rPr>
              <a:t>PROGRAMMER</a:t>
            </a:r>
            <a:endParaRPr lang="en-US" sz="1300" dirty="0"/>
          </a:p>
        </p:txBody>
      </p:sp>
      <p:sp>
        <p:nvSpPr>
          <p:cNvPr id="4" name="Text 2"/>
          <p:cNvSpPr txBox="1"/>
          <p:nvPr/>
        </p:nvSpPr>
        <p:spPr>
          <a:xfrm>
            <a:off x="640080" y="2103120"/>
            <a:ext cx="6583680" cy="960120"/>
          </a:xfrm>
          <a:prstGeom prst="rect">
            <a:avLst/>
          </a:prstGeom>
          <a:noFill/>
          <a:ln/>
        </p:spPr>
        <p:txBody>
          <a:bodyPr wrap="square" lIns="0" tIns="0" rIns="0" bIns="0" rtlCol="0" anchor="ctr"/>
          <a:lstStyle/>
          <a:p>
            <a:pPr indent="0" marL="0">
              <a:lnSpc>
                <a:spcPct val="135000"/>
              </a:lnSpc>
              <a:buNone/>
            </a:pPr>
            <a:r>
              <a:rPr lang="en-US" sz="1500" dirty="0">
                <a:solidFill>
                  <a:srgbClr val="121428"/>
                </a:solidFill>
                <a:latin typeface="Malgun Gothic" pitchFamily="34" charset="0"/>
                <a:ea typeface="Malgun Gothic" pitchFamily="34" charset="-122"/>
                <a:cs typeface="Malgun Gothic" pitchFamily="34" charset="-120"/>
              </a:rPr>
              <a:t>안녕하세요, 초등학생때부터 게임 개발을 하고 싶었습니다.</a:t>
            </a:r>
            <a:endParaRPr lang="en-US" sz="1500" dirty="0"/>
          </a:p>
          <a:p>
            <a:pPr indent="0" marL="0">
              <a:lnSpc>
                <a:spcPct val="135000"/>
              </a:lnSpc>
              <a:buNone/>
            </a:pPr>
            <a:r>
              <a:rPr lang="en-US" sz="1500" dirty="0">
                <a:solidFill>
                  <a:srgbClr val="121428"/>
                </a:solidFill>
                <a:latin typeface="Malgun Gothic" pitchFamily="34" charset="0"/>
                <a:ea typeface="Malgun Gothic" pitchFamily="34" charset="-122"/>
                <a:cs typeface="Malgun Gothic" pitchFamily="34" charset="-120"/>
              </a:rPr>
              <a:t>부족한 부분도 많지만, 정말 잘만든 게임 하나를 완성하는 것이 저의 꿈입니다.</a:t>
            </a:r>
            <a:endParaRPr lang="en-US" sz="1500" dirty="0"/>
          </a:p>
          <a:p>
            <a:pPr indent="0" marL="0">
              <a:lnSpc>
                <a:spcPct val="135000"/>
              </a:lnSpc>
              <a:buNone/>
            </a:pPr>
            <a:r>
              <a:rPr lang="en-US" sz="1500" dirty="0">
                <a:solidFill>
                  <a:srgbClr val="121428"/>
                </a:solidFill>
                <a:latin typeface="Malgun Gothic" pitchFamily="34" charset="0"/>
                <a:ea typeface="Malgun Gothic" pitchFamily="34" charset="-122"/>
                <a:cs typeface="Malgun Gothic" pitchFamily="34" charset="-120"/>
              </a:rPr>
              <a:t>게임은 하나의 예술 작품이라고 생각합니다. 저도 함께 작품을 만들고 싶습니다.</a:t>
            </a:r>
            <a:endParaRPr lang="en-US" sz="1500" dirty="0"/>
          </a:p>
        </p:txBody>
      </p:sp>
      <p:sp>
        <p:nvSpPr>
          <p:cNvPr id="5" name="Shape 3"/>
          <p:cNvSpPr/>
          <p:nvPr/>
        </p:nvSpPr>
        <p:spPr>
          <a:xfrm>
            <a:off x="640080" y="3246120"/>
            <a:ext cx="921258" cy="329184"/>
          </a:xfrm>
          <a:prstGeom prst="roundRect">
            <a:avLst>
              <a:gd name="adj" fmla="val 50000"/>
            </a:avLst>
          </a:prstGeom>
          <a:solidFill>
            <a:srgbClr val="FFFFFF"/>
          </a:solidFill>
          <a:ln w="12700">
            <a:solidFill>
              <a:srgbClr val="D6D8E2"/>
            </a:solidFill>
            <a:prstDash val="solid"/>
          </a:ln>
        </p:spPr>
      </p:sp>
      <p:sp>
        <p:nvSpPr>
          <p:cNvPr id="6" name="Text 4"/>
          <p:cNvSpPr txBox="1"/>
          <p:nvPr/>
        </p:nvSpPr>
        <p:spPr>
          <a:xfrm>
            <a:off x="640080" y="3246120"/>
            <a:ext cx="921258" cy="329184"/>
          </a:xfrm>
          <a:prstGeom prst="rect">
            <a:avLst/>
          </a:prstGeom>
          <a:noFill/>
          <a:ln/>
        </p:spPr>
        <p:txBody>
          <a:bodyPr wrap="square" lIns="0" tIns="0" rIns="0" bIns="0" rtlCol="0" anchor="ctr"/>
          <a:lstStyle/>
          <a:p>
            <a:pPr algn="ctr" indent="0" marL="0">
              <a:buNone/>
            </a:pPr>
            <a:r>
              <a:rPr lang="en-US" sz="1050" dirty="0">
                <a:solidFill>
                  <a:srgbClr val="121428"/>
                </a:solidFill>
                <a:latin typeface="Malgun Gothic" pitchFamily="34" charset="0"/>
                <a:ea typeface="Malgun Gothic" pitchFamily="34" charset="-122"/>
                <a:cs typeface="Malgun Gothic" pitchFamily="34" charset="-120"/>
              </a:rPr>
              <a:t>Unity</a:t>
            </a:r>
            <a:endParaRPr lang="en-US" sz="1050" dirty="0"/>
          </a:p>
        </p:txBody>
      </p:sp>
      <p:sp>
        <p:nvSpPr>
          <p:cNvPr id="7" name="Shape 5"/>
          <p:cNvSpPr/>
          <p:nvPr/>
        </p:nvSpPr>
        <p:spPr>
          <a:xfrm>
            <a:off x="1671066" y="3246120"/>
            <a:ext cx="604418" cy="329184"/>
          </a:xfrm>
          <a:prstGeom prst="roundRect">
            <a:avLst>
              <a:gd name="adj" fmla="val 50000"/>
            </a:avLst>
          </a:prstGeom>
          <a:solidFill>
            <a:srgbClr val="FFFFFF"/>
          </a:solidFill>
          <a:ln w="12700">
            <a:solidFill>
              <a:srgbClr val="D6D8E2"/>
            </a:solidFill>
            <a:prstDash val="solid"/>
          </a:ln>
        </p:spPr>
      </p:sp>
      <p:sp>
        <p:nvSpPr>
          <p:cNvPr id="8" name="Text 6"/>
          <p:cNvSpPr txBox="1"/>
          <p:nvPr/>
        </p:nvSpPr>
        <p:spPr>
          <a:xfrm>
            <a:off x="1671066" y="3246120"/>
            <a:ext cx="604418" cy="329184"/>
          </a:xfrm>
          <a:prstGeom prst="rect">
            <a:avLst/>
          </a:prstGeom>
          <a:noFill/>
          <a:ln/>
        </p:spPr>
        <p:txBody>
          <a:bodyPr wrap="square" lIns="0" tIns="0" rIns="0" bIns="0" rtlCol="0" anchor="ctr"/>
          <a:lstStyle/>
          <a:p>
            <a:pPr algn="ctr" indent="0" marL="0">
              <a:buNone/>
            </a:pPr>
            <a:r>
              <a:rPr lang="en-US" sz="1050" dirty="0">
                <a:solidFill>
                  <a:srgbClr val="121428"/>
                </a:solidFill>
                <a:latin typeface="Malgun Gothic" pitchFamily="34" charset="0"/>
                <a:ea typeface="Malgun Gothic" pitchFamily="34" charset="-122"/>
                <a:cs typeface="Malgun Gothic" pitchFamily="34" charset="-120"/>
              </a:rPr>
              <a:t>C#</a:t>
            </a:r>
            <a:endParaRPr lang="en-US" sz="1050" dirty="0"/>
          </a:p>
        </p:txBody>
      </p:sp>
      <p:sp>
        <p:nvSpPr>
          <p:cNvPr id="9" name="Shape 7"/>
          <p:cNvSpPr/>
          <p:nvPr/>
        </p:nvSpPr>
        <p:spPr>
          <a:xfrm>
            <a:off x="2385212" y="3246120"/>
            <a:ext cx="1660550" cy="329184"/>
          </a:xfrm>
          <a:prstGeom prst="roundRect">
            <a:avLst>
              <a:gd name="adj" fmla="val 50000"/>
            </a:avLst>
          </a:prstGeom>
          <a:solidFill>
            <a:srgbClr val="FFFFFF"/>
          </a:solidFill>
          <a:ln w="12700">
            <a:solidFill>
              <a:srgbClr val="D6D8E2"/>
            </a:solidFill>
            <a:prstDash val="solid"/>
          </a:ln>
        </p:spPr>
      </p:sp>
      <p:sp>
        <p:nvSpPr>
          <p:cNvPr id="10" name="Text 8"/>
          <p:cNvSpPr txBox="1"/>
          <p:nvPr/>
        </p:nvSpPr>
        <p:spPr>
          <a:xfrm>
            <a:off x="2385212" y="3246120"/>
            <a:ext cx="1660550" cy="329184"/>
          </a:xfrm>
          <a:prstGeom prst="rect">
            <a:avLst/>
          </a:prstGeom>
          <a:noFill/>
          <a:ln/>
        </p:spPr>
        <p:txBody>
          <a:bodyPr wrap="square" lIns="0" tIns="0" rIns="0" bIns="0" rtlCol="0" anchor="ctr"/>
          <a:lstStyle/>
          <a:p>
            <a:pPr algn="ctr" indent="0" marL="0">
              <a:buNone/>
            </a:pPr>
            <a:r>
              <a:rPr lang="en-US" sz="1050" dirty="0">
                <a:solidFill>
                  <a:srgbClr val="121428"/>
                </a:solidFill>
                <a:latin typeface="Malgun Gothic" pitchFamily="34" charset="0"/>
                <a:ea typeface="Malgun Gothic" pitchFamily="34" charset="-122"/>
                <a:cs typeface="Malgun Gothic" pitchFamily="34" charset="-120"/>
              </a:rPr>
              <a:t>Team Project</a:t>
            </a:r>
            <a:endParaRPr lang="en-US" sz="1050" dirty="0"/>
          </a:p>
        </p:txBody>
      </p:sp>
      <p:sp>
        <p:nvSpPr>
          <p:cNvPr id="11" name="Shape 9"/>
          <p:cNvSpPr/>
          <p:nvPr/>
        </p:nvSpPr>
        <p:spPr>
          <a:xfrm>
            <a:off x="4155491" y="3246120"/>
            <a:ext cx="1343711" cy="329184"/>
          </a:xfrm>
          <a:prstGeom prst="roundRect">
            <a:avLst>
              <a:gd name="adj" fmla="val 50000"/>
            </a:avLst>
          </a:prstGeom>
          <a:solidFill>
            <a:srgbClr val="FFFFFF"/>
          </a:solidFill>
          <a:ln w="12700">
            <a:solidFill>
              <a:srgbClr val="D6D8E2"/>
            </a:solidFill>
            <a:prstDash val="solid"/>
          </a:ln>
        </p:spPr>
      </p:sp>
      <p:sp>
        <p:nvSpPr>
          <p:cNvPr id="12" name="Text 10"/>
          <p:cNvSpPr txBox="1"/>
          <p:nvPr/>
        </p:nvSpPr>
        <p:spPr>
          <a:xfrm>
            <a:off x="4155491" y="3246120"/>
            <a:ext cx="1343711" cy="329184"/>
          </a:xfrm>
          <a:prstGeom prst="rect">
            <a:avLst/>
          </a:prstGeom>
          <a:noFill/>
          <a:ln/>
        </p:spPr>
        <p:txBody>
          <a:bodyPr wrap="square" lIns="0" tIns="0" rIns="0" bIns="0" rtlCol="0" anchor="ctr"/>
          <a:lstStyle/>
          <a:p>
            <a:pPr algn="ctr" indent="0" marL="0">
              <a:buNone/>
            </a:pPr>
            <a:r>
              <a:rPr lang="en-US" sz="1050" dirty="0">
                <a:solidFill>
                  <a:srgbClr val="121428"/>
                </a:solidFill>
                <a:latin typeface="Malgun Gothic" pitchFamily="34" charset="0"/>
                <a:ea typeface="Malgun Gothic" pitchFamily="34" charset="-122"/>
                <a:cs typeface="Malgun Gothic" pitchFamily="34" charset="-120"/>
              </a:rPr>
              <a:t>Debugging</a:t>
            </a:r>
            <a:endParaRPr lang="en-US" sz="1050" dirty="0"/>
          </a:p>
        </p:txBody>
      </p:sp>
      <p:sp>
        <p:nvSpPr>
          <p:cNvPr id="13" name="Shape 11"/>
          <p:cNvSpPr/>
          <p:nvPr/>
        </p:nvSpPr>
        <p:spPr>
          <a:xfrm>
            <a:off x="640080" y="3886200"/>
            <a:ext cx="2331720" cy="685800"/>
          </a:xfrm>
          <a:prstGeom prst="roundRect">
            <a:avLst>
              <a:gd name="adj" fmla="val 8000"/>
            </a:avLst>
          </a:prstGeom>
          <a:solidFill>
            <a:srgbClr val="FFFFFF"/>
          </a:solidFill>
          <a:ln w="12700">
            <a:solidFill>
              <a:srgbClr val="E3E3EA"/>
            </a:solidFill>
            <a:prstDash val="solid"/>
          </a:ln>
        </p:spPr>
      </p:sp>
      <p:sp>
        <p:nvSpPr>
          <p:cNvPr id="14" name="Text 12"/>
          <p:cNvSpPr txBox="1"/>
          <p:nvPr/>
        </p:nvSpPr>
        <p:spPr>
          <a:xfrm>
            <a:off x="822960" y="3977640"/>
            <a:ext cx="2011680" cy="182880"/>
          </a:xfrm>
          <a:prstGeom prst="rect">
            <a:avLst/>
          </a:prstGeom>
          <a:noFill/>
          <a:ln/>
        </p:spPr>
        <p:txBody>
          <a:bodyPr wrap="square" lIns="0" tIns="0" rIns="0" bIns="0" rtlCol="0" anchor="ctr"/>
          <a:lstStyle/>
          <a:p>
            <a:pPr indent="0" marL="0">
              <a:buNone/>
            </a:pPr>
            <a:r>
              <a:rPr lang="en-US" sz="800" b="1" spc="100" kern="0" dirty="0">
                <a:solidFill>
                  <a:srgbClr val="6B7080"/>
                </a:solidFill>
              </a:rPr>
              <a:t>GITHUB</a:t>
            </a:r>
            <a:endParaRPr lang="en-US" sz="800" dirty="0"/>
          </a:p>
        </p:txBody>
      </p:sp>
      <p:sp>
        <p:nvSpPr>
          <p:cNvPr id="15" name="Text 13"/>
          <p:cNvSpPr txBox="1"/>
          <p:nvPr/>
        </p:nvSpPr>
        <p:spPr>
          <a:xfrm>
            <a:off x="822960" y="4178808"/>
            <a:ext cx="2103120" cy="274320"/>
          </a:xfrm>
          <a:prstGeom prst="rect">
            <a:avLst/>
          </a:prstGeom>
          <a:noFill/>
          <a:ln/>
        </p:spPr>
        <p:txBody>
          <a:bodyPr wrap="square" lIns="0" tIns="0" rIns="0" bIns="0" rtlCol="0" anchor="ctr"/>
          <a:lstStyle/>
          <a:p>
            <a:pPr indent="0" marL="0">
              <a:buNone/>
            </a:pPr>
            <a:r>
              <a:rPr lang="en-US" sz="1100" b="1" u="sng" dirty="0">
                <a:solidFill>
                  <a:srgbClr val="3355CC"/>
                </a:solidFill>
                <a:latin typeface="Malgun Gothic" pitchFamily="34" charset="0"/>
                <a:ea typeface="Malgun Gothic" pitchFamily="34" charset="-122"/>
                <a:cs typeface="Malgun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github.com/hyewang5617</a:t>
            </a:r>
            <a:endParaRPr lang="en-US" sz="1100" dirty="0"/>
          </a:p>
        </p:txBody>
      </p:sp>
      <p:sp>
        <p:nvSpPr>
          <p:cNvPr id="16" name="Shape 14"/>
          <p:cNvSpPr/>
          <p:nvPr/>
        </p:nvSpPr>
        <p:spPr>
          <a:xfrm>
            <a:off x="3108960" y="3886200"/>
            <a:ext cx="2834640" cy="685800"/>
          </a:xfrm>
          <a:prstGeom prst="roundRect">
            <a:avLst>
              <a:gd name="adj" fmla="val 8000"/>
            </a:avLst>
          </a:prstGeom>
          <a:solidFill>
            <a:srgbClr val="FFFFFF"/>
          </a:solidFill>
          <a:ln w="12700">
            <a:solidFill>
              <a:srgbClr val="E3E3EA"/>
            </a:solidFill>
            <a:prstDash val="solid"/>
          </a:ln>
        </p:spPr>
      </p:sp>
      <p:sp>
        <p:nvSpPr>
          <p:cNvPr id="17" name="Text 15"/>
          <p:cNvSpPr txBox="1"/>
          <p:nvPr/>
        </p:nvSpPr>
        <p:spPr>
          <a:xfrm>
            <a:off x="3291840" y="3977640"/>
            <a:ext cx="2560320" cy="182880"/>
          </a:xfrm>
          <a:prstGeom prst="rect">
            <a:avLst/>
          </a:prstGeom>
          <a:noFill/>
          <a:ln/>
        </p:spPr>
        <p:txBody>
          <a:bodyPr wrap="square" lIns="0" tIns="0" rIns="0" bIns="0" rtlCol="0" anchor="ctr"/>
          <a:lstStyle/>
          <a:p>
            <a:pPr indent="0" marL="0">
              <a:buNone/>
            </a:pPr>
            <a:r>
              <a:rPr lang="en-US" sz="800" b="1" spc="100" kern="0" dirty="0">
                <a:solidFill>
                  <a:srgbClr val="6B7080"/>
                </a:solidFill>
              </a:rPr>
              <a:t>GAME PORTFOLIO</a:t>
            </a:r>
            <a:endParaRPr lang="en-US" sz="800" dirty="0"/>
          </a:p>
        </p:txBody>
      </p:sp>
      <p:sp>
        <p:nvSpPr>
          <p:cNvPr id="18" name="Text 16"/>
          <p:cNvSpPr txBox="1"/>
          <p:nvPr/>
        </p:nvSpPr>
        <p:spPr>
          <a:xfrm>
            <a:off x="3291840" y="4178808"/>
            <a:ext cx="2651760" cy="274320"/>
          </a:xfrm>
          <a:prstGeom prst="rect">
            <a:avLst/>
          </a:prstGeom>
          <a:noFill/>
          <a:ln/>
        </p:spPr>
        <p:txBody>
          <a:bodyPr wrap="square" lIns="0" tIns="0" rIns="0" bIns="0" rtlCol="0" anchor="ctr"/>
          <a:lstStyle/>
          <a:p>
            <a:pPr indent="0" marL="0">
              <a:buNone/>
            </a:pPr>
            <a:r>
              <a:rPr lang="en-US" sz="1100" b="1" u="sng" dirty="0">
                <a:solidFill>
                  <a:srgbClr val="3355CC"/>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hyewang5617.github.io/Portfolio</a:t>
            </a:r>
            <a:endParaRPr lang="en-US" sz="1100" dirty="0"/>
          </a:p>
        </p:txBody>
      </p:sp>
      <p:pic>
        <p:nvPicPr>
          <p:cNvPr id="19" name="Image 0" descr="/tmp/rebuild/cover_img1.png">    </p:cNvPr>
          <p:cNvPicPr>
            <a:picLocks noChangeAspect="1"/>
          </p:cNvPicPr>
          <p:nvPr/>
        </p:nvPicPr>
        <p:blipFill>
          <a:blip r:embed="rId3"/>
          <a:stretch>
            <a:fillRect/>
          </a:stretch>
        </p:blipFill>
        <p:spPr>
          <a:xfrm>
            <a:off x="640080" y="5074920"/>
            <a:ext cx="2395728" cy="1435608"/>
          </a:xfrm>
          <a:prstGeom prst="rect">
            <a:avLst/>
          </a:prstGeom>
        </p:spPr>
      </p:pic>
      <p:pic>
        <p:nvPicPr>
          <p:cNvPr id="20" name="Image 1" descr="/tmp/rebuild/cover_img2.png">    </p:cNvPr>
          <p:cNvPicPr>
            <a:picLocks noChangeAspect="1"/>
          </p:cNvPicPr>
          <p:nvPr/>
        </p:nvPicPr>
        <p:blipFill>
          <a:blip r:embed="rId4"/>
          <a:stretch>
            <a:fillRect/>
          </a:stretch>
        </p:blipFill>
        <p:spPr>
          <a:xfrm>
            <a:off x="3191256" y="5074920"/>
            <a:ext cx="2395728" cy="1435608"/>
          </a:xfrm>
          <a:prstGeom prst="rect">
            <a:avLst/>
          </a:prstGeom>
        </p:spPr>
      </p:pic>
      <p:pic>
        <p:nvPicPr>
          <p:cNvPr id="21" name="Image 2" descr="/tmp/rebuild/cover_img3.png">    </p:cNvPr>
          <p:cNvPicPr>
            <a:picLocks noChangeAspect="1"/>
          </p:cNvPicPr>
          <p:nvPr/>
        </p:nvPicPr>
        <p:blipFill>
          <a:blip r:embed="rId5"/>
          <a:stretch>
            <a:fillRect/>
          </a:stretch>
        </p:blipFill>
        <p:spPr>
          <a:xfrm>
            <a:off x="5742432" y="5074920"/>
            <a:ext cx="2395728" cy="14356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657600" cy="219456"/>
          </a:xfrm>
          <a:prstGeom prst="rect">
            <a:avLst/>
          </a:prstGeom>
          <a:noFill/>
          <a:ln/>
        </p:spPr>
        <p:txBody>
          <a:bodyPr wrap="square" lIns="0" tIns="0" rIns="0" bIns="0" rtlCol="0" anchor="ctr"/>
          <a:lstStyle/>
          <a:p>
            <a:pPr indent="0" marL="0">
              <a:buNone/>
            </a:pPr>
            <a:r>
              <a:rPr lang="en-US" sz="1000" b="1" spc="100" kern="0" dirty="0">
                <a:solidFill>
                  <a:srgbClr val="6B7080"/>
                </a:solidFill>
                <a:latin typeface="Malgun Gothic" pitchFamily="34" charset="0"/>
                <a:ea typeface="Malgun Gothic" pitchFamily="34" charset="-122"/>
                <a:cs typeface="Malgun Gothic" pitchFamily="34" charset="-120"/>
              </a:rPr>
              <a:t>TEAM PROJECT · PROGRAMMER</a:t>
            </a:r>
            <a:endParaRPr lang="en-US" sz="1000" dirty="0"/>
          </a:p>
        </p:txBody>
      </p:sp>
      <p:sp>
        <p:nvSpPr>
          <p:cNvPr id="3" name="Text 1"/>
          <p:cNvSpPr txBox="1"/>
          <p:nvPr/>
        </p:nvSpPr>
        <p:spPr>
          <a:xfrm>
            <a:off x="548640" y="603504"/>
            <a:ext cx="2743200" cy="292608"/>
          </a:xfrm>
          <a:prstGeom prst="rect">
            <a:avLst/>
          </a:prstGeom>
          <a:noFill/>
          <a:ln/>
        </p:spPr>
        <p:txBody>
          <a:bodyPr wrap="square" lIns="0" tIns="0" rIns="0" bIns="0" rtlCol="0" anchor="ctr"/>
          <a:lstStyle/>
          <a:p>
            <a:pPr indent="0" marL="0">
              <a:buNone/>
            </a:pPr>
            <a:r>
              <a:rPr lang="en-US" sz="1500" b="1" dirty="0">
                <a:solidFill>
                  <a:srgbClr val="121428"/>
                </a:solidFill>
                <a:latin typeface="Malgun Gothic" pitchFamily="34" charset="0"/>
                <a:ea typeface="Malgun Gothic" pitchFamily="34" charset="-122"/>
                <a:cs typeface="Malgun Gothic" pitchFamily="34" charset="-120"/>
              </a:rPr>
              <a:t>PH-1</a:t>
            </a:r>
            <a:endParaRPr lang="en-US" sz="1500" dirty="0"/>
          </a:p>
        </p:txBody>
      </p:sp>
      <p:sp>
        <p:nvSpPr>
          <p:cNvPr id="4" name="Text 2"/>
          <p:cNvSpPr txBox="1"/>
          <p:nvPr/>
        </p:nvSpPr>
        <p:spPr>
          <a:xfrm>
            <a:off x="548640" y="960120"/>
            <a:ext cx="5760720" cy="914400"/>
          </a:xfrm>
          <a:prstGeom prst="rect">
            <a:avLst/>
          </a:prstGeom>
          <a:noFill/>
          <a:ln/>
        </p:spPr>
        <p:txBody>
          <a:bodyPr wrap="square" lIns="0" tIns="0" rIns="0" bIns="0" rtlCol="0" anchor="ctr"/>
          <a:lstStyle/>
          <a:p>
            <a:pPr indent="0" marL="0">
              <a:lnSpc>
                <a:spcPct val="115000"/>
              </a:lnSpc>
              <a:buNone/>
            </a:pPr>
            <a:r>
              <a:rPr lang="en-US" sz="2500" b="1" dirty="0">
                <a:solidFill>
                  <a:srgbClr val="121428"/>
                </a:solidFill>
                <a:latin typeface="Malgun Gothic" pitchFamily="34" charset="0"/>
                <a:ea typeface="Malgun Gothic" pitchFamily="34" charset="-122"/>
                <a:cs typeface="Malgun Gothic" pitchFamily="34" charset="-120"/>
              </a:rPr>
              <a:t>리듬 게임 퍼즐, 세이브&amp;로드,</a:t>
            </a:r>
            <a:endParaRPr lang="en-US" sz="2500" dirty="0"/>
          </a:p>
          <a:p>
            <a:pPr indent="0" marL="0">
              <a:lnSpc>
                <a:spcPct val="115000"/>
              </a:lnSpc>
              <a:buNone/>
            </a:pPr>
            <a:r>
              <a:rPr lang="en-US" sz="2500" b="1" dirty="0">
                <a:solidFill>
                  <a:srgbClr val="121428"/>
                </a:solidFill>
                <a:latin typeface="Malgun Gothic" pitchFamily="34" charset="0"/>
                <a:ea typeface="Malgun Gothic" pitchFamily="34" charset="-122"/>
                <a:cs typeface="Malgun Gothic" pitchFamily="34" charset="-120"/>
              </a:rPr>
              <a:t>아이템 줍기 등 구현</a:t>
            </a:r>
            <a:endParaRPr lang="en-US" sz="2500" dirty="0"/>
          </a:p>
        </p:txBody>
      </p:sp>
      <p:sp>
        <p:nvSpPr>
          <p:cNvPr id="5" name="Text 3"/>
          <p:cNvSpPr txBox="1"/>
          <p:nvPr/>
        </p:nvSpPr>
        <p:spPr>
          <a:xfrm>
            <a:off x="548640" y="2011680"/>
            <a:ext cx="5760720" cy="868680"/>
          </a:xfrm>
          <a:prstGeom prst="rect">
            <a:avLst/>
          </a:prstGeom>
          <a:noFill/>
          <a:ln/>
        </p:spPr>
        <p:txBody>
          <a:bodyPr wrap="square" lIns="0" tIns="0" rIns="0" bIns="0" rtlCol="0" anchor="ctr"/>
          <a:lstStyle/>
          <a:p>
            <a:pPr indent="0" marL="0">
              <a:lnSpc>
                <a:spcPct val="130000"/>
              </a:lnSpc>
              <a:buNone/>
            </a:pPr>
            <a:r>
              <a:rPr lang="en-US" sz="1150" dirty="0">
                <a:solidFill>
                  <a:srgbClr val="444858"/>
                </a:solidFill>
                <a:latin typeface="Malgun Gothic" pitchFamily="34" charset="0"/>
                <a:ea typeface="Malgun Gothic" pitchFamily="34" charset="-122"/>
                <a:cs typeface="Malgun Gothic" pitchFamily="34" charset="-120"/>
              </a:rPr>
              <a:t>Unity와 C#으로 제작 중인 2D 퍼즐 어드벤처 게임입니다.</a:t>
            </a:r>
            <a:endParaRPr lang="en-US" sz="1150" dirty="0"/>
          </a:p>
          <a:p>
            <a:pPr indent="0" marL="0">
              <a:lnSpc>
                <a:spcPct val="130000"/>
              </a:lnSpc>
              <a:buNone/>
            </a:pPr>
            <a:r>
              <a:rPr lang="en-US" sz="1150" dirty="0">
                <a:solidFill>
                  <a:srgbClr val="444858"/>
                </a:solidFill>
                <a:latin typeface="Malgun Gothic" pitchFamily="34" charset="0"/>
                <a:ea typeface="Malgun Gothic" pitchFamily="34" charset="-122"/>
                <a:cs typeface="Malgun Gothic" pitchFamily="34" charset="-120"/>
              </a:rPr>
              <a:t>플레이어가 공간을 탐색하고 아이템을 사용하며 진행한 이벤트가,</a:t>
            </a:r>
            <a:endParaRPr lang="en-US" sz="1150" dirty="0"/>
          </a:p>
          <a:p>
            <a:pPr indent="0" marL="0">
              <a:lnSpc>
                <a:spcPct val="130000"/>
              </a:lnSpc>
              <a:buNone/>
            </a:pPr>
            <a:r>
              <a:rPr lang="en-US" sz="1150" dirty="0">
                <a:solidFill>
                  <a:srgbClr val="444858"/>
                </a:solidFill>
                <a:latin typeface="Malgun Gothic" pitchFamily="34" charset="0"/>
                <a:ea typeface="Malgun Gothic" pitchFamily="34" charset="-122"/>
                <a:cs typeface="Malgun Gothic" pitchFamily="34" charset="-120"/>
              </a:rPr>
              <a:t>씬을 넘어서도 동일한 진행 상태로 유지되도록 구성했습니다.</a:t>
            </a:r>
            <a:endParaRPr lang="en-US" sz="1150" dirty="0"/>
          </a:p>
        </p:txBody>
      </p:sp>
      <p:sp>
        <p:nvSpPr>
          <p:cNvPr id="6" name="Text 4"/>
          <p:cNvSpPr txBox="1"/>
          <p:nvPr/>
        </p:nvSpPr>
        <p:spPr>
          <a:xfrm>
            <a:off x="548640" y="3017520"/>
            <a:ext cx="5760720" cy="219456"/>
          </a:xfrm>
          <a:prstGeom prst="rect">
            <a:avLst/>
          </a:prstGeom>
          <a:noFill/>
          <a:ln/>
        </p:spPr>
        <p:txBody>
          <a:bodyPr wrap="square" lIns="0" tIns="0" rIns="0" bIns="0" rtlCol="0" anchor="ctr"/>
          <a:lstStyle/>
          <a:p>
            <a:pPr indent="0" marL="0">
              <a:buNone/>
            </a:pPr>
            <a:r>
              <a:rPr lang="en-US" sz="900" b="1" spc="100" kern="0" dirty="0">
                <a:solidFill>
                  <a:srgbClr val="121428"/>
                </a:solidFill>
                <a:latin typeface="Malgun Gothic" pitchFamily="34" charset="0"/>
                <a:ea typeface="Malgun Gothic" pitchFamily="34" charset="-122"/>
                <a:cs typeface="Malgun Gothic" pitchFamily="34" charset="-120"/>
              </a:rPr>
              <a:t>SYSTEM FLOW — 독립된 기능이 아니라 하나로 연결된 진행 상태</a:t>
            </a:r>
            <a:endParaRPr lang="en-US" sz="900" dirty="0"/>
          </a:p>
        </p:txBody>
      </p:sp>
      <p:sp>
        <p:nvSpPr>
          <p:cNvPr id="7" name="Shape 5"/>
          <p:cNvSpPr/>
          <p:nvPr/>
        </p:nvSpPr>
        <p:spPr>
          <a:xfrm>
            <a:off x="548640" y="3172968"/>
            <a:ext cx="3931920" cy="2679192"/>
          </a:xfrm>
          <a:prstGeom prst="roundRect">
            <a:avLst>
              <a:gd name="adj" fmla="val 2730"/>
            </a:avLst>
          </a:prstGeom>
          <a:solidFill>
            <a:srgbClr val="13151F"/>
          </a:solidFill>
          <a:ln/>
        </p:spPr>
      </p:sp>
      <p:sp>
        <p:nvSpPr>
          <p:cNvPr id="8" name="Shape 6"/>
          <p:cNvSpPr/>
          <p:nvPr/>
        </p:nvSpPr>
        <p:spPr>
          <a:xfrm>
            <a:off x="685800" y="3310128"/>
            <a:ext cx="3657600" cy="292608"/>
          </a:xfrm>
          <a:prstGeom prst="roundRect">
            <a:avLst>
              <a:gd name="adj" fmla="val 15625"/>
            </a:avLst>
          </a:prstGeom>
          <a:solidFill>
            <a:srgbClr val="181B27"/>
          </a:solidFill>
          <a:ln/>
        </p:spPr>
      </p:sp>
      <p:sp>
        <p:nvSpPr>
          <p:cNvPr id="9" name="Text 7"/>
          <p:cNvSpPr txBox="1"/>
          <p:nvPr/>
        </p:nvSpPr>
        <p:spPr>
          <a:xfrm>
            <a:off x="685800" y="3310128"/>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Item Pickup</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필드에서 아이템 획득</a:t>
            </a:r>
            <a:endParaRPr lang="en-US" sz="870" dirty="0"/>
          </a:p>
        </p:txBody>
      </p:sp>
      <p:sp>
        <p:nvSpPr>
          <p:cNvPr id="10" name="Text 8"/>
          <p:cNvSpPr txBox="1"/>
          <p:nvPr/>
        </p:nvSpPr>
        <p:spPr>
          <a:xfrm>
            <a:off x="685800" y="3602736"/>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1" name="Shape 9"/>
          <p:cNvSpPr/>
          <p:nvPr/>
        </p:nvSpPr>
        <p:spPr>
          <a:xfrm>
            <a:off x="685800" y="3662172"/>
            <a:ext cx="3657600" cy="292608"/>
          </a:xfrm>
          <a:prstGeom prst="roundRect">
            <a:avLst>
              <a:gd name="adj" fmla="val 15625"/>
            </a:avLst>
          </a:prstGeom>
          <a:solidFill>
            <a:srgbClr val="181B27"/>
          </a:solidFill>
          <a:ln/>
        </p:spPr>
      </p:sp>
      <p:sp>
        <p:nvSpPr>
          <p:cNvPr id="12" name="Text 10"/>
          <p:cNvSpPr txBox="1"/>
          <p:nvPr/>
        </p:nvSpPr>
        <p:spPr>
          <a:xfrm>
            <a:off x="685800" y="3662172"/>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Inventory</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보유 아이템 관리</a:t>
            </a:r>
            <a:endParaRPr lang="en-US" sz="870" dirty="0"/>
          </a:p>
        </p:txBody>
      </p:sp>
      <p:sp>
        <p:nvSpPr>
          <p:cNvPr id="13" name="Text 11"/>
          <p:cNvSpPr txBox="1"/>
          <p:nvPr/>
        </p:nvSpPr>
        <p:spPr>
          <a:xfrm>
            <a:off x="685800" y="3954780"/>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4" name="Shape 12"/>
          <p:cNvSpPr/>
          <p:nvPr/>
        </p:nvSpPr>
        <p:spPr>
          <a:xfrm>
            <a:off x="685800" y="4014216"/>
            <a:ext cx="3657600" cy="292608"/>
          </a:xfrm>
          <a:prstGeom prst="roundRect">
            <a:avLst>
              <a:gd name="adj" fmla="val 15625"/>
            </a:avLst>
          </a:prstGeom>
          <a:solidFill>
            <a:srgbClr val="181B27"/>
          </a:solidFill>
          <a:ln/>
        </p:spPr>
      </p:sp>
      <p:sp>
        <p:nvSpPr>
          <p:cNvPr id="15" name="Text 13"/>
          <p:cNvSpPr txBox="1"/>
          <p:nvPr/>
        </p:nvSpPr>
        <p:spPr>
          <a:xfrm>
            <a:off x="685800" y="4014216"/>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Item Use</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퍼즐 · 이벤트에 아이템 사용</a:t>
            </a:r>
            <a:endParaRPr lang="en-US" sz="870" dirty="0"/>
          </a:p>
        </p:txBody>
      </p:sp>
      <p:sp>
        <p:nvSpPr>
          <p:cNvPr id="16" name="Text 14"/>
          <p:cNvSpPr txBox="1"/>
          <p:nvPr/>
        </p:nvSpPr>
        <p:spPr>
          <a:xfrm>
            <a:off x="685800" y="4306824"/>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7" name="Shape 15"/>
          <p:cNvSpPr/>
          <p:nvPr/>
        </p:nvSpPr>
        <p:spPr>
          <a:xfrm>
            <a:off x="685800" y="4366260"/>
            <a:ext cx="3657600" cy="292608"/>
          </a:xfrm>
          <a:prstGeom prst="roundRect">
            <a:avLst>
              <a:gd name="adj" fmla="val 15625"/>
            </a:avLst>
          </a:prstGeom>
          <a:solidFill>
            <a:srgbClr val="181B27"/>
          </a:solidFill>
          <a:ln/>
        </p:spPr>
      </p:sp>
      <p:sp>
        <p:nvSpPr>
          <p:cNvPr id="18" name="Text 16"/>
          <p:cNvSpPr txBox="1"/>
          <p:nvPr/>
        </p:nvSpPr>
        <p:spPr>
          <a:xfrm>
            <a:off x="685800" y="4366260"/>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Game Event</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이벤트 진행 · 완료 트리거</a:t>
            </a:r>
            <a:endParaRPr lang="en-US" sz="870" dirty="0"/>
          </a:p>
        </p:txBody>
      </p:sp>
      <p:sp>
        <p:nvSpPr>
          <p:cNvPr id="19" name="Text 17"/>
          <p:cNvSpPr txBox="1"/>
          <p:nvPr/>
        </p:nvSpPr>
        <p:spPr>
          <a:xfrm>
            <a:off x="685800" y="4658868"/>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0" name="Shape 18"/>
          <p:cNvSpPr/>
          <p:nvPr/>
        </p:nvSpPr>
        <p:spPr>
          <a:xfrm>
            <a:off x="685800" y="4718304"/>
            <a:ext cx="3657600" cy="292608"/>
          </a:xfrm>
          <a:prstGeom prst="roundRect">
            <a:avLst>
              <a:gd name="adj" fmla="val 15625"/>
            </a:avLst>
          </a:prstGeom>
          <a:solidFill>
            <a:srgbClr val="26317A"/>
          </a:solidFill>
          <a:ln/>
        </p:spPr>
      </p:sp>
      <p:sp>
        <p:nvSpPr>
          <p:cNvPr id="21" name="Text 19"/>
          <p:cNvSpPr txBox="1"/>
          <p:nvPr/>
        </p:nvSpPr>
        <p:spPr>
          <a:xfrm>
            <a:off x="685800" y="4718304"/>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GameFlag</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완료 상태를 기록하는 공통 상태 객체</a:t>
            </a:r>
            <a:endParaRPr lang="en-US" sz="870" dirty="0"/>
          </a:p>
        </p:txBody>
      </p:sp>
      <p:sp>
        <p:nvSpPr>
          <p:cNvPr id="22" name="Text 20"/>
          <p:cNvSpPr txBox="1"/>
          <p:nvPr/>
        </p:nvSpPr>
        <p:spPr>
          <a:xfrm>
            <a:off x="685800" y="5010912"/>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3" name="Shape 21"/>
          <p:cNvSpPr/>
          <p:nvPr/>
        </p:nvSpPr>
        <p:spPr>
          <a:xfrm>
            <a:off x="685800" y="5070348"/>
            <a:ext cx="3657600" cy="292608"/>
          </a:xfrm>
          <a:prstGeom prst="roundRect">
            <a:avLst>
              <a:gd name="adj" fmla="val 15625"/>
            </a:avLst>
          </a:prstGeom>
          <a:solidFill>
            <a:srgbClr val="181B27"/>
          </a:solidFill>
          <a:ln/>
        </p:spPr>
      </p:sp>
      <p:sp>
        <p:nvSpPr>
          <p:cNvPr id="24" name="Text 22"/>
          <p:cNvSpPr txBox="1"/>
          <p:nvPr/>
        </p:nvSpPr>
        <p:spPr>
          <a:xfrm>
            <a:off x="685800" y="5070348"/>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Save Data</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GameFlag 값을 저장</a:t>
            </a:r>
            <a:endParaRPr lang="en-US" sz="870" dirty="0"/>
          </a:p>
        </p:txBody>
      </p:sp>
      <p:sp>
        <p:nvSpPr>
          <p:cNvPr id="25" name="Text 23"/>
          <p:cNvSpPr txBox="1"/>
          <p:nvPr/>
        </p:nvSpPr>
        <p:spPr>
          <a:xfrm>
            <a:off x="685800" y="5362956"/>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6" name="Shape 24"/>
          <p:cNvSpPr/>
          <p:nvPr/>
        </p:nvSpPr>
        <p:spPr>
          <a:xfrm>
            <a:off x="685800" y="5422392"/>
            <a:ext cx="3657600" cy="292608"/>
          </a:xfrm>
          <a:prstGeom prst="roundRect">
            <a:avLst>
              <a:gd name="adj" fmla="val 15625"/>
            </a:avLst>
          </a:prstGeom>
          <a:solidFill>
            <a:srgbClr val="181B27"/>
          </a:solidFill>
          <a:ln/>
        </p:spPr>
      </p:sp>
      <p:sp>
        <p:nvSpPr>
          <p:cNvPr id="27" name="Text 25"/>
          <p:cNvSpPr txBox="1"/>
          <p:nvPr/>
        </p:nvSpPr>
        <p:spPr>
          <a:xfrm>
            <a:off x="685800" y="5422392"/>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Scene Reload / Load</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저장된 GameFlag로 상태 복원</a:t>
            </a:r>
            <a:endParaRPr lang="en-US" sz="870" dirty="0"/>
          </a:p>
        </p:txBody>
      </p:sp>
      <p:pic>
        <p:nvPicPr>
          <p:cNvPr id="28" name="Image 0" descr="/tmp/rebuild/ph1_video.png">    </p:cNvPr>
          <p:cNvPicPr>
            <a:picLocks noChangeAspect="1"/>
          </p:cNvPicPr>
          <p:nvPr/>
        </p:nvPicPr>
        <p:blipFill>
          <a:blip r:embed="rId1"/>
          <a:stretch>
            <a:fillRect/>
          </a:stretch>
        </p:blipFill>
        <p:spPr>
          <a:xfrm>
            <a:off x="5166360" y="603504"/>
            <a:ext cx="6446520" cy="3566160"/>
          </a:xfrm>
          <a:prstGeom prst="rect">
            <a:avLst/>
          </a:prstGeom>
        </p:spPr>
      </p:pic>
      <p:sp>
        <p:nvSpPr>
          <p:cNvPr id="29" name="Shape 26"/>
          <p:cNvSpPr/>
          <p:nvPr/>
        </p:nvSpPr>
        <p:spPr>
          <a:xfrm>
            <a:off x="8778240" y="740664"/>
            <a:ext cx="2743200" cy="329184"/>
          </a:xfrm>
          <a:prstGeom prst="roundRect">
            <a:avLst>
              <a:gd name="adj" fmla="val 50000"/>
            </a:avLst>
          </a:prstGeom>
          <a:solidFill>
            <a:srgbClr val="0A0B12"/>
          </a:solidFill>
          <a:ln/>
        </p:spPr>
      </p:sp>
      <p:sp>
        <p:nvSpPr>
          <p:cNvPr id="30" name="Text 27">
            <a:hlinkClick r:id="rId2" tooltip=""/>
          </p:cNvPr>
          <p:cNvSpPr txBox="1"/>
          <p:nvPr/>
        </p:nvSpPr>
        <p:spPr>
          <a:xfrm>
            <a:off x="8778240" y="740664"/>
            <a:ext cx="2743200" cy="329184"/>
          </a:xfrm>
          <a:prstGeom prst="rect">
            <a:avLst/>
          </a:prstGeom>
          <a:noFill/>
          <a:ln/>
        </p:spPr>
        <p:txBody>
          <a:bodyPr wrap="square" lIns="0" tIns="0" rIns="0" bIns="0" rtlCol="0" anchor="ctr"/>
          <a:lstStyle/>
          <a:p>
            <a:pPr algn="ctr" indent="0" marL="0">
              <a:buNone/>
            </a:pPr>
            <a:r>
              <a:rPr lang="en-US" sz="850" b="1" u="sng" dirty="0">
                <a:solidFill>
                  <a:srgbClr val="FFFFFF"/>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  PLAY VIDEO — youtu.be/cwB2SIBhPDU</a:t>
            </a:r>
            <a:endParaRPr lang="en-US" sz="850" dirty="0"/>
          </a:p>
        </p:txBody>
      </p:sp>
      <p:pic>
        <p:nvPicPr>
          <p:cNvPr id="31" name="Image 1" descr="/tmp/rebuild/ph1_small1.png">    </p:cNvPr>
          <p:cNvPicPr>
            <a:picLocks noChangeAspect="1"/>
          </p:cNvPicPr>
          <p:nvPr/>
        </p:nvPicPr>
        <p:blipFill>
          <a:blip r:embed="rId3"/>
          <a:stretch>
            <a:fillRect/>
          </a:stretch>
        </p:blipFill>
        <p:spPr>
          <a:xfrm>
            <a:off x="5166360" y="4352544"/>
            <a:ext cx="3127248" cy="1115568"/>
          </a:xfrm>
          <a:prstGeom prst="rect">
            <a:avLst/>
          </a:prstGeom>
        </p:spPr>
      </p:pic>
      <p:pic>
        <p:nvPicPr>
          <p:cNvPr id="32" name="Image 2" descr="/tmp/rebuild/ph1_small2.png">    </p:cNvPr>
          <p:cNvPicPr>
            <a:picLocks noChangeAspect="1"/>
          </p:cNvPicPr>
          <p:nvPr/>
        </p:nvPicPr>
        <p:blipFill>
          <a:blip r:embed="rId4"/>
          <a:stretch>
            <a:fillRect/>
          </a:stretch>
        </p:blipFill>
        <p:spPr>
          <a:xfrm>
            <a:off x="8476488" y="4352544"/>
            <a:ext cx="3127248" cy="1115568"/>
          </a:xfrm>
          <a:prstGeom prst="rect">
            <a:avLst/>
          </a:prstGeom>
        </p:spPr>
      </p:pic>
      <p:sp>
        <p:nvSpPr>
          <p:cNvPr id="33" name="Text 28"/>
          <p:cNvSpPr txBox="1"/>
          <p:nvPr/>
        </p:nvSpPr>
        <p:spPr>
          <a:xfrm>
            <a:off x="5166360" y="5495544"/>
            <a:ext cx="3127248" cy="182880"/>
          </a:xfrm>
          <a:prstGeom prst="rect">
            <a:avLst/>
          </a:prstGeom>
          <a:noFill/>
          <a:ln/>
        </p:spPr>
        <p:txBody>
          <a:bodyPr wrap="square" lIns="0" tIns="0" rIns="0" bIns="0" rtlCol="0" anchor="ctr"/>
          <a:lstStyle/>
          <a:p>
            <a:pPr algn="l" indent="0" marL="0">
              <a:buNone/>
            </a:pPr>
            <a:r>
              <a:rPr lang="en-US" sz="850" dirty="0">
                <a:solidFill>
                  <a:srgbClr val="6B7080"/>
                </a:solidFill>
              </a:rPr>
              <a:t>아이템 획득</a:t>
            </a:r>
            <a:endParaRPr lang="en-US" sz="850" dirty="0"/>
          </a:p>
        </p:txBody>
      </p:sp>
      <p:sp>
        <p:nvSpPr>
          <p:cNvPr id="34" name="Text 29"/>
          <p:cNvSpPr txBox="1"/>
          <p:nvPr/>
        </p:nvSpPr>
        <p:spPr>
          <a:xfrm>
            <a:off x="8476488" y="5495544"/>
            <a:ext cx="3127248" cy="182880"/>
          </a:xfrm>
          <a:prstGeom prst="rect">
            <a:avLst/>
          </a:prstGeom>
          <a:noFill/>
          <a:ln/>
        </p:spPr>
        <p:txBody>
          <a:bodyPr wrap="square" lIns="0" tIns="0" rIns="0" bIns="0" rtlCol="0" anchor="ctr"/>
          <a:lstStyle/>
          <a:p>
            <a:pPr algn="l" indent="0" marL="0">
              <a:buNone/>
            </a:pPr>
            <a:r>
              <a:rPr lang="en-US" sz="850" dirty="0">
                <a:solidFill>
                  <a:srgbClr val="6B7080"/>
                </a:solidFill>
              </a:rPr>
              <a:t>세이브 · 로드</a:t>
            </a:r>
            <a:endParaRPr lang="en-US" sz="850" dirty="0"/>
          </a:p>
        </p:txBody>
      </p:sp>
      <p:sp>
        <p:nvSpPr>
          <p:cNvPr id="35" name="Shape 30"/>
          <p:cNvSpPr/>
          <p:nvPr/>
        </p:nvSpPr>
        <p:spPr>
          <a:xfrm>
            <a:off x="548640" y="6263640"/>
            <a:ext cx="11091672" cy="1188720"/>
          </a:xfrm>
          <a:prstGeom prst="roundRect">
            <a:avLst>
              <a:gd name="adj" fmla="val 4615"/>
            </a:avLst>
          </a:prstGeom>
          <a:solidFill>
            <a:srgbClr val="FFFFFF"/>
          </a:solidFill>
          <a:ln w="12700">
            <a:solidFill>
              <a:srgbClr val="E3E3EA"/>
            </a:solidFill>
            <a:prstDash val="solid"/>
          </a:ln>
        </p:spPr>
      </p:sp>
      <p:sp>
        <p:nvSpPr>
          <p:cNvPr id="36" name="Text 31"/>
          <p:cNvSpPr txBox="1"/>
          <p:nvPr/>
        </p:nvSpPr>
        <p:spPr>
          <a:xfrm>
            <a:off x="777240" y="6391656"/>
            <a:ext cx="2743200" cy="182880"/>
          </a:xfrm>
          <a:prstGeom prst="rect">
            <a:avLst/>
          </a:prstGeom>
          <a:noFill/>
          <a:ln/>
        </p:spPr>
        <p:txBody>
          <a:bodyPr wrap="square" lIns="0" tIns="0" rIns="0" bIns="0" rtlCol="0" anchor="ctr"/>
          <a:lstStyle/>
          <a:p>
            <a:pPr indent="0" marL="0">
              <a:buNone/>
            </a:pPr>
            <a:r>
              <a:rPr lang="en-US" sz="900" b="1" spc="100" kern="0" dirty="0">
                <a:solidFill>
                  <a:srgbClr val="121428"/>
                </a:solidFill>
              </a:rPr>
              <a:t>MY CONTRIBUTION</a:t>
            </a:r>
            <a:endParaRPr lang="en-US" sz="900" dirty="0"/>
          </a:p>
        </p:txBody>
      </p:sp>
      <p:sp>
        <p:nvSpPr>
          <p:cNvPr id="37" name="Shape 32"/>
          <p:cNvSpPr/>
          <p:nvPr/>
        </p:nvSpPr>
        <p:spPr>
          <a:xfrm>
            <a:off x="777240" y="6629400"/>
            <a:ext cx="2170786" cy="237744"/>
          </a:xfrm>
          <a:prstGeom prst="roundRect">
            <a:avLst>
              <a:gd name="adj" fmla="val 50000"/>
            </a:avLst>
          </a:prstGeom>
          <a:solidFill>
            <a:srgbClr val="EEF2FF"/>
          </a:solidFill>
          <a:ln w="12700">
            <a:solidFill>
              <a:srgbClr val="C7D3FA"/>
            </a:solidFill>
            <a:prstDash val="solid"/>
          </a:ln>
        </p:spPr>
      </p:sp>
      <p:sp>
        <p:nvSpPr>
          <p:cNvPr id="38" name="Text 33"/>
          <p:cNvSpPr txBox="1"/>
          <p:nvPr/>
        </p:nvSpPr>
        <p:spPr>
          <a:xfrm>
            <a:off x="777240" y="6629400"/>
            <a:ext cx="2170786"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Inventory &amp; Item System</a:t>
            </a:r>
            <a:endParaRPr lang="en-US" sz="800" dirty="0"/>
          </a:p>
        </p:txBody>
      </p:sp>
      <p:sp>
        <p:nvSpPr>
          <p:cNvPr id="39" name="Shape 34"/>
          <p:cNvSpPr/>
          <p:nvPr/>
        </p:nvSpPr>
        <p:spPr>
          <a:xfrm>
            <a:off x="3039466" y="6629400"/>
            <a:ext cx="1366114" cy="237744"/>
          </a:xfrm>
          <a:prstGeom prst="roundRect">
            <a:avLst>
              <a:gd name="adj" fmla="val 50000"/>
            </a:avLst>
          </a:prstGeom>
          <a:solidFill>
            <a:srgbClr val="EEF2FF"/>
          </a:solidFill>
          <a:ln w="12700">
            <a:solidFill>
              <a:srgbClr val="C7D3FA"/>
            </a:solidFill>
            <a:prstDash val="solid"/>
          </a:ln>
        </p:spPr>
      </p:sp>
      <p:sp>
        <p:nvSpPr>
          <p:cNvPr id="40" name="Text 35"/>
          <p:cNvSpPr txBox="1"/>
          <p:nvPr/>
        </p:nvSpPr>
        <p:spPr>
          <a:xfrm>
            <a:off x="3039466" y="6629400"/>
            <a:ext cx="1366114"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Rhythm Puzzle</a:t>
            </a:r>
            <a:endParaRPr lang="en-US" sz="800" dirty="0"/>
          </a:p>
        </p:txBody>
      </p:sp>
      <p:sp>
        <p:nvSpPr>
          <p:cNvPr id="41" name="Shape 36"/>
          <p:cNvSpPr/>
          <p:nvPr/>
        </p:nvSpPr>
        <p:spPr>
          <a:xfrm>
            <a:off x="4497019" y="6629400"/>
            <a:ext cx="1446581" cy="237744"/>
          </a:xfrm>
          <a:prstGeom prst="roundRect">
            <a:avLst>
              <a:gd name="adj" fmla="val 50000"/>
            </a:avLst>
          </a:prstGeom>
          <a:solidFill>
            <a:srgbClr val="EEF2FF"/>
          </a:solidFill>
          <a:ln w="12700">
            <a:solidFill>
              <a:srgbClr val="C7D3FA"/>
            </a:solidFill>
            <a:prstDash val="solid"/>
          </a:ln>
        </p:spPr>
      </p:sp>
      <p:sp>
        <p:nvSpPr>
          <p:cNvPr id="42" name="Text 37"/>
          <p:cNvSpPr txBox="1"/>
          <p:nvPr/>
        </p:nvSpPr>
        <p:spPr>
          <a:xfrm>
            <a:off x="4497019" y="6629400"/>
            <a:ext cx="1446581"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Monster Puzzle</a:t>
            </a:r>
            <a:endParaRPr lang="en-US" sz="800" dirty="0"/>
          </a:p>
        </p:txBody>
      </p:sp>
      <p:sp>
        <p:nvSpPr>
          <p:cNvPr id="43" name="Shape 38"/>
          <p:cNvSpPr/>
          <p:nvPr/>
        </p:nvSpPr>
        <p:spPr>
          <a:xfrm>
            <a:off x="6035040" y="6629400"/>
            <a:ext cx="1205179" cy="237744"/>
          </a:xfrm>
          <a:prstGeom prst="roundRect">
            <a:avLst>
              <a:gd name="adj" fmla="val 50000"/>
            </a:avLst>
          </a:prstGeom>
          <a:solidFill>
            <a:srgbClr val="EEF2FF"/>
          </a:solidFill>
          <a:ln w="12700">
            <a:solidFill>
              <a:srgbClr val="C7D3FA"/>
            </a:solidFill>
            <a:prstDash val="solid"/>
          </a:ln>
        </p:spPr>
      </p:sp>
      <p:sp>
        <p:nvSpPr>
          <p:cNvPr id="44" name="Text 39"/>
          <p:cNvSpPr txBox="1"/>
          <p:nvPr/>
        </p:nvSpPr>
        <p:spPr>
          <a:xfrm>
            <a:off x="6035040" y="6629400"/>
            <a:ext cx="1205179"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Save &amp; Load</a:t>
            </a:r>
            <a:endParaRPr lang="en-US" sz="800" dirty="0"/>
          </a:p>
        </p:txBody>
      </p:sp>
      <p:sp>
        <p:nvSpPr>
          <p:cNvPr id="45" name="Shape 40"/>
          <p:cNvSpPr/>
          <p:nvPr/>
        </p:nvSpPr>
        <p:spPr>
          <a:xfrm>
            <a:off x="777240" y="6958584"/>
            <a:ext cx="2090318" cy="237744"/>
          </a:xfrm>
          <a:prstGeom prst="roundRect">
            <a:avLst>
              <a:gd name="adj" fmla="val 50000"/>
            </a:avLst>
          </a:prstGeom>
          <a:solidFill>
            <a:srgbClr val="EEF2FF"/>
          </a:solidFill>
          <a:ln w="12700">
            <a:solidFill>
              <a:srgbClr val="C7D3FA"/>
            </a:solidFill>
            <a:prstDash val="solid"/>
          </a:ln>
        </p:spPr>
      </p:sp>
      <p:sp>
        <p:nvSpPr>
          <p:cNvPr id="46" name="Text 41"/>
          <p:cNvSpPr txBox="1"/>
          <p:nvPr/>
        </p:nvSpPr>
        <p:spPr>
          <a:xfrm>
            <a:off x="777240" y="6958584"/>
            <a:ext cx="2090318"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GameFlag / Event State</a:t>
            </a:r>
            <a:endParaRPr lang="en-US" sz="800" dirty="0"/>
          </a:p>
        </p:txBody>
      </p:sp>
      <p:sp>
        <p:nvSpPr>
          <p:cNvPr id="47" name="Shape 42"/>
          <p:cNvSpPr/>
          <p:nvPr/>
        </p:nvSpPr>
        <p:spPr>
          <a:xfrm>
            <a:off x="2958998" y="6958584"/>
            <a:ext cx="3055925" cy="237744"/>
          </a:xfrm>
          <a:prstGeom prst="roundRect">
            <a:avLst>
              <a:gd name="adj" fmla="val 50000"/>
            </a:avLst>
          </a:prstGeom>
          <a:solidFill>
            <a:srgbClr val="EEF2FF"/>
          </a:solidFill>
          <a:ln w="12700">
            <a:solidFill>
              <a:srgbClr val="C7D3FA"/>
            </a:solidFill>
            <a:prstDash val="solid"/>
          </a:ln>
        </p:spPr>
      </p:sp>
      <p:sp>
        <p:nvSpPr>
          <p:cNvPr id="48" name="Text 43"/>
          <p:cNvSpPr txBox="1"/>
          <p:nvPr/>
        </p:nvSpPr>
        <p:spPr>
          <a:xfrm>
            <a:off x="2958998" y="6958584"/>
            <a:ext cx="3055925"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Spawn &amp; Scene Transition Debugging</a:t>
            </a:r>
            <a:endParaRPr lang="en-US" sz="800" dirty="0"/>
          </a:p>
        </p:txBody>
      </p:sp>
      <p:sp>
        <p:nvSpPr>
          <p:cNvPr id="49" name="Text 44"/>
          <p:cNvSpPr txBox="1"/>
          <p:nvPr/>
        </p:nvSpPr>
        <p:spPr>
          <a:xfrm>
            <a:off x="8321040" y="6391656"/>
            <a:ext cx="1828800" cy="182880"/>
          </a:xfrm>
          <a:prstGeom prst="rect">
            <a:avLst/>
          </a:prstGeom>
          <a:noFill/>
          <a:ln/>
        </p:spPr>
        <p:txBody>
          <a:bodyPr wrap="square" lIns="0" tIns="0" rIns="0" bIns="0" rtlCol="0" anchor="ctr"/>
          <a:lstStyle/>
          <a:p>
            <a:pPr indent="0" marL="0">
              <a:buNone/>
            </a:pPr>
            <a:r>
              <a:rPr lang="en-US" sz="900" b="1" spc="100" kern="0" dirty="0">
                <a:solidFill>
                  <a:srgbClr val="121428"/>
                </a:solidFill>
              </a:rPr>
              <a:t>TECH</a:t>
            </a:r>
            <a:endParaRPr lang="en-US" sz="900" dirty="0"/>
          </a:p>
        </p:txBody>
      </p:sp>
      <p:sp>
        <p:nvSpPr>
          <p:cNvPr id="50" name="Shape 45"/>
          <p:cNvSpPr/>
          <p:nvPr/>
        </p:nvSpPr>
        <p:spPr>
          <a:xfrm>
            <a:off x="8321040" y="6629400"/>
            <a:ext cx="722376" cy="237744"/>
          </a:xfrm>
          <a:prstGeom prst="roundRect">
            <a:avLst>
              <a:gd name="adj" fmla="val 50000"/>
            </a:avLst>
          </a:prstGeom>
          <a:solidFill>
            <a:srgbClr val="EEF2FF"/>
          </a:solidFill>
          <a:ln w="12700">
            <a:solidFill>
              <a:srgbClr val="C7D3FA"/>
            </a:solidFill>
            <a:prstDash val="solid"/>
          </a:ln>
        </p:spPr>
      </p:sp>
      <p:sp>
        <p:nvSpPr>
          <p:cNvPr id="51" name="Text 46"/>
          <p:cNvSpPr txBox="1"/>
          <p:nvPr/>
        </p:nvSpPr>
        <p:spPr>
          <a:xfrm>
            <a:off x="8321040" y="6629400"/>
            <a:ext cx="722376"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Unity</a:t>
            </a:r>
            <a:endParaRPr lang="en-US" sz="800" dirty="0"/>
          </a:p>
        </p:txBody>
      </p:sp>
      <p:sp>
        <p:nvSpPr>
          <p:cNvPr id="52" name="Shape 47"/>
          <p:cNvSpPr/>
          <p:nvPr/>
        </p:nvSpPr>
        <p:spPr>
          <a:xfrm>
            <a:off x="9134856" y="6629400"/>
            <a:ext cx="480974" cy="237744"/>
          </a:xfrm>
          <a:prstGeom prst="roundRect">
            <a:avLst>
              <a:gd name="adj" fmla="val 50000"/>
            </a:avLst>
          </a:prstGeom>
          <a:solidFill>
            <a:srgbClr val="EEF2FF"/>
          </a:solidFill>
          <a:ln w="12700">
            <a:solidFill>
              <a:srgbClr val="C7D3FA"/>
            </a:solidFill>
            <a:prstDash val="solid"/>
          </a:ln>
        </p:spPr>
      </p:sp>
      <p:sp>
        <p:nvSpPr>
          <p:cNvPr id="53" name="Text 48"/>
          <p:cNvSpPr txBox="1"/>
          <p:nvPr/>
        </p:nvSpPr>
        <p:spPr>
          <a:xfrm>
            <a:off x="9134856" y="6629400"/>
            <a:ext cx="480974"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C#</a:t>
            </a:r>
            <a:endParaRPr lang="en-US" sz="800" dirty="0"/>
          </a:p>
        </p:txBody>
      </p:sp>
      <p:sp>
        <p:nvSpPr>
          <p:cNvPr id="54" name="Shape 49"/>
          <p:cNvSpPr/>
          <p:nvPr/>
        </p:nvSpPr>
        <p:spPr>
          <a:xfrm>
            <a:off x="9707270" y="6629400"/>
            <a:ext cx="1124712" cy="237744"/>
          </a:xfrm>
          <a:prstGeom prst="roundRect">
            <a:avLst>
              <a:gd name="adj" fmla="val 50000"/>
            </a:avLst>
          </a:prstGeom>
          <a:solidFill>
            <a:srgbClr val="EEF2FF"/>
          </a:solidFill>
          <a:ln w="12700">
            <a:solidFill>
              <a:srgbClr val="C7D3FA"/>
            </a:solidFill>
            <a:prstDash val="solid"/>
          </a:ln>
        </p:spPr>
      </p:sp>
      <p:sp>
        <p:nvSpPr>
          <p:cNvPr id="55" name="Text 50"/>
          <p:cNvSpPr txBox="1"/>
          <p:nvPr/>
        </p:nvSpPr>
        <p:spPr>
          <a:xfrm>
            <a:off x="9707270" y="6629400"/>
            <a:ext cx="1124712"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Git/GitHub</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828800" cy="502920"/>
          </a:xfrm>
          <a:prstGeom prst="rect">
            <a:avLst/>
          </a:prstGeom>
          <a:noFill/>
          <a:ln/>
        </p:spPr>
        <p:txBody>
          <a:bodyPr wrap="square" lIns="0" tIns="0" rIns="0" bIns="0" rtlCol="0" anchor="ctr"/>
          <a:lstStyle/>
          <a:p>
            <a:pPr indent="0" marL="0">
              <a:buNone/>
            </a:pPr>
            <a:r>
              <a:rPr lang="en-US" sz="1200" b="1" dirty="0">
                <a:solidFill>
                  <a:srgbClr val="121428"/>
                </a:solidFill>
                <a:latin typeface="Malgun Gothic" pitchFamily="34" charset="0"/>
                <a:ea typeface="Malgun Gothic" pitchFamily="34" charset="-122"/>
                <a:cs typeface="Malgun Gothic" pitchFamily="34" charset="-120"/>
              </a:rPr>
              <a:t>SYSTEM DESIGN</a:t>
            </a:r>
            <a:endParaRPr lang="en-US" sz="1200" dirty="0"/>
          </a:p>
        </p:txBody>
      </p:sp>
      <p:sp>
        <p:nvSpPr>
          <p:cNvPr id="3" name="Text 1"/>
          <p:cNvSpPr txBox="1"/>
          <p:nvPr/>
        </p:nvSpPr>
        <p:spPr>
          <a:xfrm>
            <a:off x="2468880" y="384048"/>
            <a:ext cx="9144000" cy="502920"/>
          </a:xfrm>
          <a:prstGeom prst="rect">
            <a:avLst/>
          </a:prstGeom>
          <a:noFill/>
          <a:ln/>
        </p:spPr>
        <p:txBody>
          <a:bodyPr wrap="square" lIns="0" tIns="0" rIns="0" bIns="0" rtlCol="0" anchor="ctr"/>
          <a:lstStyle/>
          <a:p>
            <a:pPr indent="0" marL="0">
              <a:buNone/>
            </a:pPr>
            <a:r>
              <a:rPr lang="en-US" sz="1600" b="1" dirty="0">
                <a:solidFill>
                  <a:srgbClr val="121428"/>
                </a:solidFill>
                <a:latin typeface="Malgun Gothic" pitchFamily="34" charset="0"/>
                <a:ea typeface="Malgun Gothic" pitchFamily="34" charset="-122"/>
                <a:cs typeface="Malgun Gothic" pitchFamily="34" charset="-120"/>
              </a:rPr>
              <a:t>플레이어 상태 유지 주요 오류 수정</a:t>
            </a:r>
            <a:endParaRPr lang="en-US" sz="1600" dirty="0"/>
          </a:p>
        </p:txBody>
      </p:sp>
      <p:sp>
        <p:nvSpPr>
          <p:cNvPr id="4" name="Text 2"/>
          <p:cNvSpPr txBox="1"/>
          <p:nvPr/>
        </p:nvSpPr>
        <p:spPr>
          <a:xfrm>
            <a:off x="548640" y="1115568"/>
            <a:ext cx="5120640" cy="228600"/>
          </a:xfrm>
          <a:prstGeom prst="rect">
            <a:avLst/>
          </a:prstGeom>
          <a:noFill/>
          <a:ln/>
        </p:spPr>
        <p:txBody>
          <a:bodyPr wrap="square" lIns="0" tIns="0" rIns="0" bIns="0" rtlCol="0" anchor="ctr"/>
          <a:lstStyle/>
          <a:p>
            <a:pPr indent="0" marL="0">
              <a:buNone/>
            </a:pPr>
            <a:r>
              <a:rPr lang="en-US" sz="1000" b="1" dirty="0">
                <a:solidFill>
                  <a:srgbClr val="3355CC"/>
                </a:solidFill>
                <a:latin typeface="Malgun Gothic" pitchFamily="34" charset="0"/>
                <a:ea typeface="Malgun Gothic" pitchFamily="34" charset="-122"/>
                <a:cs typeface="Malgun Gothic" pitchFamily="34" charset="-120"/>
              </a:rPr>
              <a:t>MAIN CASE — SCENE TRANSITION DEBUGGING</a:t>
            </a:r>
            <a:endParaRPr lang="en-US" sz="1000" dirty="0"/>
          </a:p>
        </p:txBody>
      </p:sp>
      <p:sp>
        <p:nvSpPr>
          <p:cNvPr id="5" name="Text 3"/>
          <p:cNvSpPr txBox="1"/>
          <p:nvPr/>
        </p:nvSpPr>
        <p:spPr>
          <a:xfrm>
            <a:off x="548640" y="1389888"/>
            <a:ext cx="6537960" cy="310896"/>
          </a:xfrm>
          <a:prstGeom prst="rect">
            <a:avLst/>
          </a:prstGeom>
          <a:noFill/>
          <a:ln/>
        </p:spPr>
        <p:txBody>
          <a:bodyPr wrap="square" lIns="0" tIns="0" rIns="0" bIns="0" rtlCol="0" anchor="ctr"/>
          <a:lstStyle/>
          <a:p>
            <a:pPr indent="0" marL="0">
              <a:buNone/>
            </a:pPr>
            <a:r>
              <a:rPr lang="en-US" sz="1300" b="1" dirty="0">
                <a:solidFill>
                  <a:srgbClr val="121428"/>
                </a:solidFill>
                <a:latin typeface="Malgun Gothic" pitchFamily="34" charset="0"/>
                <a:ea typeface="Malgun Gothic" pitchFamily="34" charset="-122"/>
                <a:cs typeface="Malgun Gothic" pitchFamily="34" charset="-120"/>
              </a:rPr>
              <a:t>시네마틱 직후 씬을 이동하면 플레이어가 지정된 문 앞이 아닌 바닥에서 시작</a:t>
            </a:r>
            <a:endParaRPr lang="en-US" sz="1300" dirty="0"/>
          </a:p>
        </p:txBody>
      </p:sp>
      <p:sp>
        <p:nvSpPr>
          <p:cNvPr id="6" name="Shape 4"/>
          <p:cNvSpPr/>
          <p:nvPr/>
        </p:nvSpPr>
        <p:spPr>
          <a:xfrm>
            <a:off x="548640" y="1810512"/>
            <a:ext cx="6537960" cy="256032"/>
          </a:xfrm>
          <a:prstGeom prst="roundRect">
            <a:avLst>
              <a:gd name="adj" fmla="val 21429"/>
            </a:avLst>
          </a:prstGeom>
          <a:solidFill>
            <a:srgbClr val="F1F1F5"/>
          </a:solidFill>
          <a:ln/>
        </p:spPr>
      </p:sp>
      <p:sp>
        <p:nvSpPr>
          <p:cNvPr id="7" name="Text 5"/>
          <p:cNvSpPr txBox="1"/>
          <p:nvPr/>
        </p:nvSpPr>
        <p:spPr>
          <a:xfrm>
            <a:off x="658368" y="1810512"/>
            <a:ext cx="3159252" cy="256032"/>
          </a:xfrm>
          <a:prstGeom prst="rect">
            <a:avLst/>
          </a:prstGeom>
          <a:noFill/>
          <a:ln/>
        </p:spPr>
        <p:txBody>
          <a:bodyPr wrap="square" lIns="0" tIns="0" rIns="0" bIns="0" rtlCol="0" anchor="ctr"/>
          <a:lstStyle/>
          <a:p>
            <a:pPr indent="0" marL="0">
              <a:buNone/>
            </a:pPr>
            <a:r>
              <a:rPr lang="en-US" sz="900" b="1" dirty="0">
                <a:solidFill>
                  <a:srgbClr val="121428"/>
                </a:solidFill>
                <a:latin typeface="Malgun Gothic" pitchFamily="34" charset="0"/>
                <a:ea typeface="Malgun Gothic" pitchFamily="34" charset="-122"/>
                <a:cs typeface="Malgun Gothic" pitchFamily="34" charset="-120"/>
              </a:rPr>
              <a:t>조건</a:t>
            </a:r>
            <a:endParaRPr lang="en-US" sz="900" dirty="0"/>
          </a:p>
        </p:txBody>
      </p:sp>
      <p:sp>
        <p:nvSpPr>
          <p:cNvPr id="8" name="Text 6"/>
          <p:cNvSpPr txBox="1"/>
          <p:nvPr/>
        </p:nvSpPr>
        <p:spPr>
          <a:xfrm>
            <a:off x="3927348" y="1810512"/>
            <a:ext cx="3159252" cy="256032"/>
          </a:xfrm>
          <a:prstGeom prst="rect">
            <a:avLst/>
          </a:prstGeom>
          <a:noFill/>
          <a:ln/>
        </p:spPr>
        <p:txBody>
          <a:bodyPr wrap="square" lIns="0" tIns="0" rIns="0" bIns="0" rtlCol="0" anchor="ctr"/>
          <a:lstStyle/>
          <a:p>
            <a:pPr indent="0" marL="0">
              <a:buNone/>
            </a:pPr>
            <a:r>
              <a:rPr lang="en-US" sz="900" b="1" dirty="0">
                <a:solidFill>
                  <a:srgbClr val="121428"/>
                </a:solidFill>
                <a:latin typeface="Malgun Gothic" pitchFamily="34" charset="0"/>
                <a:ea typeface="Malgun Gothic" pitchFamily="34" charset="-122"/>
                <a:cs typeface="Malgun Gothic" pitchFamily="34" charset="-120"/>
              </a:rPr>
              <a:t>결과</a:t>
            </a:r>
            <a:endParaRPr lang="en-US" sz="900" dirty="0"/>
          </a:p>
        </p:txBody>
      </p:sp>
      <p:sp>
        <p:nvSpPr>
          <p:cNvPr id="9" name="Shape 7"/>
          <p:cNvSpPr/>
          <p:nvPr/>
        </p:nvSpPr>
        <p:spPr>
          <a:xfrm>
            <a:off x="548640" y="2066544"/>
            <a:ext cx="6537960" cy="0"/>
          </a:xfrm>
          <a:prstGeom prst="line">
            <a:avLst/>
          </a:prstGeom>
          <a:noFill/>
          <a:ln w="9525">
            <a:solidFill>
              <a:srgbClr val="E4E4EC"/>
            </a:solidFill>
            <a:prstDash val="solid"/>
          </a:ln>
        </p:spPr>
      </p:sp>
      <p:sp>
        <p:nvSpPr>
          <p:cNvPr id="10" name="Text 8"/>
          <p:cNvSpPr txBox="1"/>
          <p:nvPr/>
        </p:nvSpPr>
        <p:spPr>
          <a:xfrm>
            <a:off x="658368" y="2066544"/>
            <a:ext cx="3159252" cy="219456"/>
          </a:xfrm>
          <a:prstGeom prst="rect">
            <a:avLst/>
          </a:prstGeom>
          <a:noFill/>
          <a:ln/>
        </p:spPr>
        <p:txBody>
          <a:bodyPr wrap="square" lIns="0" tIns="0" rIns="0" bIns="0" rtlCol="0" anchor="ctr"/>
          <a:lstStyle/>
          <a:p>
            <a:pPr indent="0" marL="0">
              <a:buNone/>
            </a:pPr>
            <a:r>
              <a:rPr lang="en-US" sz="900" dirty="0">
                <a:solidFill>
                  <a:srgbClr val="121428"/>
                </a:solidFill>
                <a:latin typeface="Malgun Gothic" pitchFamily="34" charset="0"/>
                <a:ea typeface="Malgun Gothic" pitchFamily="34" charset="-122"/>
                <a:cs typeface="Malgun Gothic" pitchFamily="34" charset="-120"/>
              </a:rPr>
              <a:t>첫 시네마틱 → 씬 이동</a:t>
            </a:r>
            <a:endParaRPr lang="en-US" sz="900" dirty="0"/>
          </a:p>
        </p:txBody>
      </p:sp>
      <p:sp>
        <p:nvSpPr>
          <p:cNvPr id="11" name="Text 9"/>
          <p:cNvSpPr txBox="1"/>
          <p:nvPr/>
        </p:nvSpPr>
        <p:spPr>
          <a:xfrm>
            <a:off x="3927348" y="2066544"/>
            <a:ext cx="3159252" cy="219456"/>
          </a:xfrm>
          <a:prstGeom prst="rect">
            <a:avLst/>
          </a:prstGeom>
          <a:noFill/>
          <a:ln/>
        </p:spPr>
        <p:txBody>
          <a:bodyPr wrap="square" lIns="0" tIns="0" rIns="0" bIns="0" rtlCol="0" anchor="ctr"/>
          <a:lstStyle/>
          <a:p>
            <a:pPr indent="0" marL="0">
              <a:buNone/>
            </a:pPr>
            <a:r>
              <a:rPr lang="en-US" sz="900" b="1" dirty="0">
                <a:solidFill>
                  <a:srgbClr val="C0392B"/>
                </a:solidFill>
                <a:latin typeface="Malgun Gothic" pitchFamily="34" charset="0"/>
                <a:ea typeface="Malgun Gothic" pitchFamily="34" charset="-122"/>
                <a:cs typeface="Malgun Gothic" pitchFamily="34" charset="-120"/>
              </a:rPr>
              <a:t>Player가 바닥으로 떨어짐</a:t>
            </a:r>
            <a:endParaRPr lang="en-US" sz="900" dirty="0"/>
          </a:p>
        </p:txBody>
      </p:sp>
      <p:sp>
        <p:nvSpPr>
          <p:cNvPr id="12" name="Shape 10"/>
          <p:cNvSpPr/>
          <p:nvPr/>
        </p:nvSpPr>
        <p:spPr>
          <a:xfrm>
            <a:off x="548640" y="2286000"/>
            <a:ext cx="6537960" cy="0"/>
          </a:xfrm>
          <a:prstGeom prst="line">
            <a:avLst/>
          </a:prstGeom>
          <a:noFill/>
          <a:ln w="9525">
            <a:solidFill>
              <a:srgbClr val="E4E4EC"/>
            </a:solidFill>
            <a:prstDash val="solid"/>
          </a:ln>
        </p:spPr>
      </p:sp>
      <p:sp>
        <p:nvSpPr>
          <p:cNvPr id="13" name="Text 11"/>
          <p:cNvSpPr txBox="1"/>
          <p:nvPr/>
        </p:nvSpPr>
        <p:spPr>
          <a:xfrm>
            <a:off x="658368" y="2286000"/>
            <a:ext cx="3159252" cy="219456"/>
          </a:xfrm>
          <a:prstGeom prst="rect">
            <a:avLst/>
          </a:prstGeom>
          <a:noFill/>
          <a:ln/>
        </p:spPr>
        <p:txBody>
          <a:bodyPr wrap="square" lIns="0" tIns="0" rIns="0" bIns="0" rtlCol="0" anchor="ctr"/>
          <a:lstStyle/>
          <a:p>
            <a:pPr indent="0" marL="0">
              <a:buNone/>
            </a:pPr>
            <a:r>
              <a:rPr lang="en-US" sz="900" dirty="0">
                <a:solidFill>
                  <a:srgbClr val="121428"/>
                </a:solidFill>
                <a:latin typeface="Malgun Gothic" pitchFamily="34" charset="0"/>
                <a:ea typeface="Malgun Gothic" pitchFamily="34" charset="-122"/>
                <a:cs typeface="Malgun Gothic" pitchFamily="34" charset="-120"/>
              </a:rPr>
              <a:t>같은 씬 재방문</a:t>
            </a:r>
            <a:endParaRPr lang="en-US" sz="900" dirty="0"/>
          </a:p>
        </p:txBody>
      </p:sp>
      <p:sp>
        <p:nvSpPr>
          <p:cNvPr id="14" name="Text 12"/>
          <p:cNvSpPr txBox="1"/>
          <p:nvPr/>
        </p:nvSpPr>
        <p:spPr>
          <a:xfrm>
            <a:off x="3927348" y="2286000"/>
            <a:ext cx="3159252" cy="219456"/>
          </a:xfrm>
          <a:prstGeom prst="rect">
            <a:avLst/>
          </a:prstGeom>
          <a:noFill/>
          <a:ln/>
        </p:spPr>
        <p:txBody>
          <a:bodyPr wrap="square" lIns="0" tIns="0" rIns="0" bIns="0" rtlCol="0" anchor="ctr"/>
          <a:lstStyle/>
          <a:p>
            <a:pPr indent="0" marL="0">
              <a:buNone/>
            </a:pPr>
            <a:r>
              <a:rPr lang="en-US" sz="900" b="1" dirty="0">
                <a:solidFill>
                  <a:srgbClr val="2E7D46"/>
                </a:solidFill>
                <a:latin typeface="Malgun Gothic" pitchFamily="34" charset="0"/>
                <a:ea typeface="Malgun Gothic" pitchFamily="34" charset="-122"/>
                <a:cs typeface="Malgun Gothic" pitchFamily="34" charset="-120"/>
              </a:rPr>
              <a:t>정상 Spawn</a:t>
            </a:r>
            <a:endParaRPr lang="en-US" sz="900" dirty="0"/>
          </a:p>
        </p:txBody>
      </p:sp>
      <p:sp>
        <p:nvSpPr>
          <p:cNvPr id="15" name="Shape 13"/>
          <p:cNvSpPr/>
          <p:nvPr/>
        </p:nvSpPr>
        <p:spPr>
          <a:xfrm>
            <a:off x="548640" y="2505456"/>
            <a:ext cx="6537960" cy="0"/>
          </a:xfrm>
          <a:prstGeom prst="line">
            <a:avLst/>
          </a:prstGeom>
          <a:noFill/>
          <a:ln w="9525">
            <a:solidFill>
              <a:srgbClr val="E4E4EC"/>
            </a:solidFill>
            <a:prstDash val="solid"/>
          </a:ln>
        </p:spPr>
      </p:sp>
      <p:sp>
        <p:nvSpPr>
          <p:cNvPr id="16" name="Shape 14"/>
          <p:cNvSpPr/>
          <p:nvPr/>
        </p:nvSpPr>
        <p:spPr>
          <a:xfrm>
            <a:off x="548640" y="2633472"/>
            <a:ext cx="6537960" cy="457200"/>
          </a:xfrm>
          <a:prstGeom prst="roundRect">
            <a:avLst>
              <a:gd name="adj" fmla="val 12000"/>
            </a:avLst>
          </a:prstGeom>
          <a:solidFill>
            <a:srgbClr val="F1F1F5"/>
          </a:solidFill>
          <a:ln/>
        </p:spPr>
      </p:sp>
      <p:sp>
        <p:nvSpPr>
          <p:cNvPr id="17" name="Text 15"/>
          <p:cNvSpPr txBox="1"/>
          <p:nvPr/>
        </p:nvSpPr>
        <p:spPr>
          <a:xfrm>
            <a:off x="658368" y="2679192"/>
            <a:ext cx="6318504" cy="365760"/>
          </a:xfrm>
          <a:prstGeom prst="rect">
            <a:avLst/>
          </a:prstGeom>
          <a:noFill/>
          <a:ln/>
        </p:spPr>
        <p:txBody>
          <a:bodyPr wrap="square" lIns="0" tIns="0" rIns="0" bIns="0" rtlCol="0" anchor="ctr"/>
          <a:lstStyle/>
          <a:p>
            <a:pPr indent="0" marL="0">
              <a:lnSpc>
                <a:spcPct val="120000"/>
              </a:lnSpc>
              <a:buNone/>
            </a:pPr>
            <a:r>
              <a:rPr lang="en-US" sz="850" b="1" dirty="0">
                <a:solidFill>
                  <a:srgbClr val="8A6A1A"/>
                </a:solidFill>
                <a:latin typeface="Malgun Gothic" pitchFamily="34" charset="0"/>
                <a:ea typeface="Malgun Gothic" pitchFamily="34" charset="-122"/>
                <a:cs typeface="Malgun Gothic" pitchFamily="34" charset="-120"/>
              </a:rPr>
              <a:t>처음 의심 — SpawnPoint. </a:t>
            </a:r>
            <a:pPr indent="0" marL="0">
              <a:lnSpc>
                <a:spcPct val="120000"/>
              </a:lnSpc>
              <a:buNone/>
            </a:pPr>
            <a:r>
              <a:rPr lang="en-US" sz="850" dirty="0">
                <a:solidFill>
                  <a:srgbClr val="444858"/>
                </a:solidFill>
                <a:latin typeface="Malgun Gothic" pitchFamily="34" charset="0"/>
                <a:ea typeface="Malgun Gothic" pitchFamily="34" charset="-122"/>
                <a:cs typeface="Malgun Gothic" pitchFamily="34" charset="-120"/>
              </a:rPr>
              <a:t>위치 지정 좌표를 확인했지만 Spawn 위치 지정 자체는 정상이었습니다. 재현 조건 차이(첫 방문 vs 재방문)를 근거로 원인을 Scene Lifecycle 쪽으로 옮겨 계속 수정했습니다.</a:t>
            </a:r>
            <a:endParaRPr lang="en-US" sz="850" dirty="0"/>
          </a:p>
        </p:txBody>
      </p:sp>
      <p:sp>
        <p:nvSpPr>
          <p:cNvPr id="18" name="Text 16"/>
          <p:cNvSpPr txBox="1"/>
          <p:nvPr/>
        </p:nvSpPr>
        <p:spPr>
          <a:xfrm>
            <a:off x="548640" y="3163824"/>
            <a:ext cx="3456432" cy="822960"/>
          </a:xfrm>
          <a:prstGeom prst="rect">
            <a:avLst/>
          </a:prstGeom>
          <a:noFill/>
          <a:ln/>
        </p:spPr>
        <p:txBody>
          <a:bodyPr wrap="square" lIns="0" tIns="0" rIns="0" bIns="0" rtlCol="0" anchor="ctr"/>
          <a:lstStyle/>
          <a:p>
            <a:pPr indent="0" marL="0">
              <a:lnSpc>
                <a:spcPct val="125000"/>
              </a:lnSpc>
              <a:buNone/>
            </a:pPr>
            <a:r>
              <a:rPr lang="en-US" sz="930" dirty="0">
                <a:solidFill>
                  <a:srgbClr val="444858"/>
                </a:solidFill>
                <a:latin typeface="Malgun Gothic" pitchFamily="34" charset="0"/>
                <a:ea typeface="Malgun Gothic" pitchFamily="34" charset="-122"/>
                <a:cs typeface="Malgun Gothic" pitchFamily="34" charset="-120"/>
              </a:rPr>
              <a:t>Spawn 코드만 보지 않고 Scene Lifecycle, </a:t>
            </a:r>
            <a:pPr indent="0" marL="0">
              <a:lnSpc>
                <a:spcPct val="125000"/>
              </a:lnSpc>
              <a:buNone/>
            </a:pPr>
            <a:r>
              <a:rPr lang="en-US" sz="830" dirty="0">
                <a:solidFill>
                  <a:srgbClr val="1F2A6B"/>
                </a:solidFill>
                <a:latin typeface="Consolas" pitchFamily="34" charset="0"/>
                <a:ea typeface="Consolas" pitchFamily="34" charset="-122"/>
                <a:cs typeface="Consolas" pitchFamily="34" charset="-120"/>
              </a:rPr>
              <a:t>DontDestroyOnLoad</a:t>
            </a:r>
            <a:pPr indent="0" marL="0">
              <a:lnSpc>
                <a:spcPct val="125000"/>
              </a:lnSpc>
              <a:buNone/>
            </a:pPr>
            <a:r>
              <a:rPr lang="en-US" sz="930" dirty="0">
                <a:solidFill>
                  <a:srgbClr val="444858"/>
                </a:solidFill>
                <a:latin typeface="Malgun Gothic" pitchFamily="34" charset="0"/>
                <a:ea typeface="Malgun Gothic" pitchFamily="34" charset="-122"/>
                <a:cs typeface="Malgun Gothic" pitchFamily="34" charset="-120"/>
              </a:rPr>
              <a:t> 객체, Player State, Rigidbody2D를 함께 추적해 아래 흐름을 확인했습니다.</a:t>
            </a:r>
            <a:endParaRPr lang="en-US" sz="930" dirty="0"/>
          </a:p>
        </p:txBody>
      </p:sp>
      <p:sp>
        <p:nvSpPr>
          <p:cNvPr id="19" name="Shape 17"/>
          <p:cNvSpPr/>
          <p:nvPr/>
        </p:nvSpPr>
        <p:spPr>
          <a:xfrm>
            <a:off x="548640" y="3913632"/>
            <a:ext cx="3794760" cy="1417320"/>
          </a:xfrm>
          <a:prstGeom prst="roundRect">
            <a:avLst>
              <a:gd name="adj" fmla="val 3871"/>
            </a:avLst>
          </a:prstGeom>
          <a:solidFill>
            <a:srgbClr val="13151F"/>
          </a:solidFill>
          <a:ln/>
        </p:spPr>
      </p:sp>
      <p:sp>
        <p:nvSpPr>
          <p:cNvPr id="20" name="Shape 18"/>
          <p:cNvSpPr/>
          <p:nvPr/>
        </p:nvSpPr>
        <p:spPr>
          <a:xfrm>
            <a:off x="548640" y="3913632"/>
            <a:ext cx="3794760" cy="274320"/>
          </a:xfrm>
          <a:prstGeom prst="roundRect">
            <a:avLst>
              <a:gd name="adj" fmla="val 20000"/>
            </a:avLst>
          </a:prstGeom>
          <a:solidFill>
            <a:srgbClr val="0D0E16"/>
          </a:solidFill>
          <a:ln/>
        </p:spPr>
      </p:sp>
      <p:sp>
        <p:nvSpPr>
          <p:cNvPr id="21" name="Shape 19"/>
          <p:cNvSpPr/>
          <p:nvPr/>
        </p:nvSpPr>
        <p:spPr>
          <a:xfrm>
            <a:off x="548640" y="4050792"/>
            <a:ext cx="3794760" cy="137160"/>
          </a:xfrm>
          <a:prstGeom prst="rect">
            <a:avLst/>
          </a:prstGeom>
          <a:solidFill>
            <a:srgbClr val="0D0E16"/>
          </a:solidFill>
          <a:ln/>
        </p:spPr>
      </p:sp>
      <p:sp>
        <p:nvSpPr>
          <p:cNvPr id="22" name="Text 20"/>
          <p:cNvSpPr txBox="1"/>
          <p:nvPr/>
        </p:nvSpPr>
        <p:spPr>
          <a:xfrm>
            <a:off x="658368" y="3913632"/>
            <a:ext cx="3575304"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Door.cs — DoorTrigger.MoveScene()</a:t>
            </a:r>
            <a:endParaRPr lang="en-US" sz="850" dirty="0"/>
          </a:p>
        </p:txBody>
      </p:sp>
      <p:sp>
        <p:nvSpPr>
          <p:cNvPr id="23" name="Text 21"/>
          <p:cNvSpPr txBox="1"/>
          <p:nvPr/>
        </p:nvSpPr>
        <p:spPr>
          <a:xfrm>
            <a:off x="676656" y="4261104"/>
            <a:ext cx="3538728" cy="996696"/>
          </a:xfrm>
          <a:prstGeom prst="rect">
            <a:avLst/>
          </a:prstGeom>
          <a:noFill/>
          <a:ln/>
        </p:spPr>
        <p:txBody>
          <a:bodyPr wrap="square" lIns="0" tIns="0" rIns="0" bIns="0" rtlCol="0" anchor="t"/>
          <a:lstStyle/>
          <a:p>
            <a:pPr indent="0" marL="0">
              <a:lnSpc>
                <a:spcPct val="118000"/>
              </a:lnSpc>
              <a:buNone/>
            </a:pPr>
            <a:r>
              <a:rPr lang="en-US" sz="760" dirty="0">
                <a:solidFill>
                  <a:srgbClr val="569CD6"/>
                </a:solidFill>
                <a:latin typeface="Consolas" pitchFamily="34" charset="0"/>
                <a:ea typeface="Consolas" pitchFamily="34" charset="-122"/>
                <a:cs typeface="Consolas" pitchFamily="34" charset="-120"/>
              </a:rPr>
              <a:t>private</a:t>
            </a:r>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60" dirty="0">
                <a:solidFill>
                  <a:srgbClr val="569CD6"/>
                </a:solidFill>
                <a:latin typeface="Consolas" pitchFamily="34" charset="0"/>
                <a:ea typeface="Consolas" pitchFamily="34" charset="-122"/>
                <a:cs typeface="Consolas" pitchFamily="34" charset="-120"/>
              </a:rPr>
              <a:t>void</a:t>
            </a:r>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MoveScene()</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monologueManager.DialogueFinished -= MoveScene;</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ClearSky.Player.isControlBlocked = </a:t>
            </a:r>
            <a:pPr indent="0" marL="0">
              <a:lnSpc>
                <a:spcPct val="118000"/>
              </a:lnSpc>
              <a:buNone/>
            </a:pPr>
            <a:r>
              <a:rPr lang="en-US" sz="760" dirty="0">
                <a:solidFill>
                  <a:srgbClr val="569CD6"/>
                </a:solidFill>
                <a:latin typeface="Consolas" pitchFamily="34" charset="0"/>
                <a:ea typeface="Consolas" pitchFamily="34" charset="-122"/>
                <a:cs typeface="Consolas" pitchFamily="34" charset="-120"/>
              </a:rPr>
              <a:t>false</a:t>
            </a:r>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thePlayer.pendingEntrance = destinationEntrance;</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StartCoroutine(ChangeSceneWithDelay());</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a:t>
            </a:r>
            <a:endParaRPr lang="en-US" sz="760" dirty="0"/>
          </a:p>
        </p:txBody>
      </p:sp>
      <p:sp>
        <p:nvSpPr>
          <p:cNvPr id="24" name="Shape 22"/>
          <p:cNvSpPr/>
          <p:nvPr/>
        </p:nvSpPr>
        <p:spPr>
          <a:xfrm>
            <a:off x="4114800" y="3026664"/>
            <a:ext cx="2880360" cy="2560320"/>
          </a:xfrm>
          <a:prstGeom prst="roundRect">
            <a:avLst>
              <a:gd name="adj" fmla="val 2857"/>
            </a:avLst>
          </a:prstGeom>
          <a:solidFill>
            <a:srgbClr val="13151F"/>
          </a:solidFill>
          <a:ln/>
        </p:spPr>
      </p:sp>
      <p:sp>
        <p:nvSpPr>
          <p:cNvPr id="25" name="Shape 23"/>
          <p:cNvSpPr/>
          <p:nvPr/>
        </p:nvSpPr>
        <p:spPr>
          <a:xfrm>
            <a:off x="4251960" y="3163824"/>
            <a:ext cx="2606040" cy="384048"/>
          </a:xfrm>
          <a:prstGeom prst="roundRect">
            <a:avLst>
              <a:gd name="adj" fmla="val 11905"/>
            </a:avLst>
          </a:prstGeom>
          <a:solidFill>
            <a:srgbClr val="181B27"/>
          </a:solidFill>
          <a:ln/>
        </p:spPr>
      </p:sp>
      <p:sp>
        <p:nvSpPr>
          <p:cNvPr id="26" name="Text 24"/>
          <p:cNvSpPr txBox="1"/>
          <p:nvPr/>
        </p:nvSpPr>
        <p:spPr>
          <a:xfrm>
            <a:off x="4251960" y="3163824"/>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FFFFFF"/>
                </a:solidFill>
                <a:latin typeface="Malgun Gothic" pitchFamily="34" charset="0"/>
                <a:ea typeface="Malgun Gothic" pitchFamily="34" charset="-122"/>
                <a:cs typeface="Malgun Gothic" pitchFamily="34" charset="-120"/>
              </a:rPr>
              <a:t>Scene A — MonologueManager</a:t>
            </a:r>
            <a:endParaRPr lang="en-US" sz="860" dirty="0"/>
          </a:p>
          <a:p>
            <a:pPr algn="ctr" indent="0" marL="0">
              <a:lnSpc>
                <a:spcPct val="115000"/>
              </a:lnSpc>
              <a:buNone/>
            </a:pPr>
            <a:r>
              <a:rPr lang="en-US" sz="680" dirty="0">
                <a:solidFill>
                  <a:srgbClr val="9AA0C0"/>
                </a:solidFill>
                <a:latin typeface="Malgun Gothic" pitchFamily="34" charset="0"/>
                <a:ea typeface="Malgun Gothic" pitchFamily="34" charset="-122"/>
                <a:cs typeface="Malgun Gothic" pitchFamily="34" charset="-120"/>
              </a:rPr>
              <a:t>DontDestroyOnLoad로 유지</a:t>
            </a:r>
            <a:endParaRPr lang="en-US" sz="860" dirty="0"/>
          </a:p>
        </p:txBody>
      </p:sp>
      <p:sp>
        <p:nvSpPr>
          <p:cNvPr id="27" name="Text 25"/>
          <p:cNvSpPr txBox="1"/>
          <p:nvPr/>
        </p:nvSpPr>
        <p:spPr>
          <a:xfrm>
            <a:off x="4251960" y="3547872"/>
            <a:ext cx="2606040" cy="91440"/>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8" name="Shape 26"/>
          <p:cNvSpPr/>
          <p:nvPr/>
        </p:nvSpPr>
        <p:spPr>
          <a:xfrm>
            <a:off x="4251960" y="3639312"/>
            <a:ext cx="2606040" cy="384048"/>
          </a:xfrm>
          <a:prstGeom prst="roundRect">
            <a:avLst>
              <a:gd name="adj" fmla="val 11905"/>
            </a:avLst>
          </a:prstGeom>
          <a:solidFill>
            <a:srgbClr val="26317A"/>
          </a:solidFill>
          <a:ln/>
        </p:spPr>
      </p:sp>
      <p:sp>
        <p:nvSpPr>
          <p:cNvPr id="29" name="Text 27"/>
          <p:cNvSpPr txBox="1"/>
          <p:nvPr/>
        </p:nvSpPr>
        <p:spPr>
          <a:xfrm>
            <a:off x="4251960" y="3639312"/>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FFFFFF"/>
                </a:solidFill>
                <a:latin typeface="Malgun Gothic" pitchFamily="34" charset="0"/>
                <a:ea typeface="Malgun Gothic" pitchFamily="34" charset="-122"/>
                <a:cs typeface="Malgun Gothic" pitchFamily="34" charset="-120"/>
              </a:rPr>
              <a:t>isControlBlocked = true</a:t>
            </a:r>
            <a:endParaRPr lang="en-US" sz="860" dirty="0"/>
          </a:p>
        </p:txBody>
      </p:sp>
      <p:sp>
        <p:nvSpPr>
          <p:cNvPr id="30" name="Text 28"/>
          <p:cNvSpPr txBox="1"/>
          <p:nvPr/>
        </p:nvSpPr>
        <p:spPr>
          <a:xfrm>
            <a:off x="4251960" y="4023360"/>
            <a:ext cx="2606040" cy="91440"/>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31" name="Shape 29"/>
          <p:cNvSpPr/>
          <p:nvPr/>
        </p:nvSpPr>
        <p:spPr>
          <a:xfrm>
            <a:off x="4251960" y="4114800"/>
            <a:ext cx="2606040" cy="384048"/>
          </a:xfrm>
          <a:prstGeom prst="roundRect">
            <a:avLst>
              <a:gd name="adj" fmla="val 11905"/>
            </a:avLst>
          </a:prstGeom>
          <a:solidFill>
            <a:srgbClr val="181B27"/>
          </a:solidFill>
          <a:ln/>
        </p:spPr>
      </p:sp>
      <p:sp>
        <p:nvSpPr>
          <p:cNvPr id="32" name="Text 30"/>
          <p:cNvSpPr txBox="1"/>
          <p:nvPr/>
        </p:nvSpPr>
        <p:spPr>
          <a:xfrm>
            <a:off x="4251960" y="4114800"/>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FFFFFF"/>
                </a:solidFill>
                <a:latin typeface="Malgun Gothic" pitchFamily="34" charset="0"/>
                <a:ea typeface="Malgun Gothic" pitchFamily="34" charset="-122"/>
                <a:cs typeface="Malgun Gothic" pitchFamily="34" charset="-120"/>
              </a:rPr>
              <a:t>Scene B — SpawnPoint</a:t>
            </a:r>
            <a:endParaRPr lang="en-US" sz="860" dirty="0"/>
          </a:p>
          <a:p>
            <a:pPr algn="ctr" indent="0" marL="0">
              <a:lnSpc>
                <a:spcPct val="115000"/>
              </a:lnSpc>
              <a:buNone/>
            </a:pPr>
            <a:r>
              <a:rPr lang="en-US" sz="680" dirty="0">
                <a:solidFill>
                  <a:srgbClr val="9AA0C0"/>
                </a:solidFill>
                <a:latin typeface="Malgun Gothic" pitchFamily="34" charset="0"/>
                <a:ea typeface="Malgun Gothic" pitchFamily="34" charset="-122"/>
                <a:cs typeface="Malgun Gothic" pitchFamily="34" charset="-120"/>
              </a:rPr>
              <a:t>위치 지정은 정상 (원인 아님)</a:t>
            </a:r>
            <a:endParaRPr lang="en-US" sz="860" dirty="0"/>
          </a:p>
        </p:txBody>
      </p:sp>
      <p:sp>
        <p:nvSpPr>
          <p:cNvPr id="33" name="Text 31"/>
          <p:cNvSpPr txBox="1"/>
          <p:nvPr/>
        </p:nvSpPr>
        <p:spPr>
          <a:xfrm>
            <a:off x="4251960" y="4498848"/>
            <a:ext cx="2606040" cy="91440"/>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34" name="Shape 32"/>
          <p:cNvSpPr/>
          <p:nvPr/>
        </p:nvSpPr>
        <p:spPr>
          <a:xfrm>
            <a:off x="4251960" y="4590288"/>
            <a:ext cx="2606040" cy="384048"/>
          </a:xfrm>
          <a:prstGeom prst="roundRect">
            <a:avLst>
              <a:gd name="adj" fmla="val 11905"/>
            </a:avLst>
          </a:prstGeom>
          <a:solidFill>
            <a:srgbClr val="4A3018"/>
          </a:solidFill>
          <a:ln/>
        </p:spPr>
      </p:sp>
      <p:sp>
        <p:nvSpPr>
          <p:cNvPr id="35" name="Text 33"/>
          <p:cNvSpPr txBox="1"/>
          <p:nvPr/>
        </p:nvSpPr>
        <p:spPr>
          <a:xfrm>
            <a:off x="4251960" y="4590288"/>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E3A75C"/>
                </a:solidFill>
                <a:latin typeface="Malgun Gothic" pitchFamily="34" charset="0"/>
                <a:ea typeface="Malgun Gothic" pitchFamily="34" charset="-122"/>
                <a:cs typeface="Malgun Gothic" pitchFamily="34" charset="-120"/>
              </a:rPr>
              <a:t>Movement Blocked · Gravity Active</a:t>
            </a:r>
            <a:endParaRPr lang="en-US" sz="860" dirty="0"/>
          </a:p>
          <a:p>
            <a:pPr algn="ctr" indent="0" marL="0">
              <a:lnSpc>
                <a:spcPct val="115000"/>
              </a:lnSpc>
              <a:buNone/>
            </a:pPr>
            <a:r>
              <a:rPr lang="en-US" sz="680" dirty="0">
                <a:solidFill>
                  <a:srgbClr val="9AA0C0"/>
                </a:solidFill>
                <a:latin typeface="Malgun Gothic" pitchFamily="34" charset="0"/>
                <a:ea typeface="Malgun Gothic" pitchFamily="34" charset="-122"/>
                <a:cs typeface="Malgun Gothic" pitchFamily="34" charset="-120"/>
              </a:rPr>
              <a:t>이동은 멈췄지만 중력은 계속 적용</a:t>
            </a:r>
            <a:endParaRPr lang="en-US" sz="860" dirty="0"/>
          </a:p>
        </p:txBody>
      </p:sp>
      <p:sp>
        <p:nvSpPr>
          <p:cNvPr id="36" name="Text 34"/>
          <p:cNvSpPr txBox="1"/>
          <p:nvPr/>
        </p:nvSpPr>
        <p:spPr>
          <a:xfrm>
            <a:off x="4251960" y="4974336"/>
            <a:ext cx="2606040" cy="91440"/>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37" name="Shape 35"/>
          <p:cNvSpPr/>
          <p:nvPr/>
        </p:nvSpPr>
        <p:spPr>
          <a:xfrm>
            <a:off x="4251960" y="5065776"/>
            <a:ext cx="2606040" cy="384048"/>
          </a:xfrm>
          <a:prstGeom prst="roundRect">
            <a:avLst>
              <a:gd name="adj" fmla="val 11905"/>
            </a:avLst>
          </a:prstGeom>
          <a:solidFill>
            <a:srgbClr val="181B27"/>
          </a:solidFill>
          <a:ln/>
        </p:spPr>
      </p:sp>
      <p:sp>
        <p:nvSpPr>
          <p:cNvPr id="38" name="Text 36"/>
          <p:cNvSpPr txBox="1"/>
          <p:nvPr/>
        </p:nvSpPr>
        <p:spPr>
          <a:xfrm>
            <a:off x="4251960" y="5065776"/>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FFFFFF"/>
                </a:solidFill>
                <a:latin typeface="Malgun Gothic" pitchFamily="34" charset="0"/>
                <a:ea typeface="Malgun Gothic" pitchFamily="34" charset="-122"/>
                <a:cs typeface="Malgun Gothic" pitchFamily="34" charset="-120"/>
              </a:rPr>
              <a:t>Player가 Spawn 직후 낙하</a:t>
            </a:r>
            <a:endParaRPr lang="en-US" sz="860" dirty="0"/>
          </a:p>
        </p:txBody>
      </p:sp>
      <p:sp>
        <p:nvSpPr>
          <p:cNvPr id="39" name="Shape 37"/>
          <p:cNvSpPr/>
          <p:nvPr/>
        </p:nvSpPr>
        <p:spPr>
          <a:xfrm>
            <a:off x="548640" y="5504688"/>
            <a:ext cx="32004" cy="502920"/>
          </a:xfrm>
          <a:prstGeom prst="rect">
            <a:avLst/>
          </a:prstGeom>
          <a:solidFill>
            <a:srgbClr val="3355CC"/>
          </a:solidFill>
          <a:ln/>
        </p:spPr>
      </p:sp>
      <p:sp>
        <p:nvSpPr>
          <p:cNvPr id="40" name="Text 38"/>
          <p:cNvSpPr txBox="1"/>
          <p:nvPr/>
        </p:nvSpPr>
        <p:spPr>
          <a:xfrm>
            <a:off x="685800" y="5458968"/>
            <a:ext cx="6400800" cy="594360"/>
          </a:xfrm>
          <a:prstGeom prst="rect">
            <a:avLst/>
          </a:prstGeom>
          <a:noFill/>
          <a:ln/>
        </p:spPr>
        <p:txBody>
          <a:bodyPr wrap="square" lIns="0" tIns="0" rIns="0" bIns="0" rtlCol="0" anchor="t"/>
          <a:lstStyle/>
          <a:p>
            <a:pPr indent="0" marL="0">
              <a:lnSpc>
                <a:spcPct val="120000"/>
              </a:lnSpc>
              <a:buNone/>
            </a:pPr>
            <a:r>
              <a:rPr lang="en-US" sz="900" dirty="0">
                <a:solidFill>
                  <a:srgbClr val="121428"/>
                </a:solidFill>
                <a:latin typeface="Malgun Gothic" pitchFamily="34" charset="0"/>
                <a:ea typeface="Malgun Gothic" pitchFamily="34" charset="-122"/>
                <a:cs typeface="Malgun Gothic" pitchFamily="34" charset="-120"/>
              </a:rPr>
              <a:t>Scene Lifecycle과 Player State를 함께 추적해, 씬 전환 이후까지 유지되던 조작 제한 상태를 원인으로 확인했습니다. 씬을 이동시키는 지점에서 이 상태를 명시적으로 해제하도록 수정했습니다.</a:t>
            </a:r>
            <a:endParaRPr lang="en-US" sz="900" dirty="0"/>
          </a:p>
        </p:txBody>
      </p:sp>
      <p:sp>
        <p:nvSpPr>
          <p:cNvPr id="41" name="Text 39"/>
          <p:cNvSpPr txBox="1"/>
          <p:nvPr/>
        </p:nvSpPr>
        <p:spPr>
          <a:xfrm>
            <a:off x="7360920" y="1115568"/>
            <a:ext cx="3108960" cy="228600"/>
          </a:xfrm>
          <a:prstGeom prst="rect">
            <a:avLst/>
          </a:prstGeom>
          <a:noFill/>
          <a:ln/>
        </p:spPr>
        <p:txBody>
          <a:bodyPr wrap="square" lIns="0" tIns="0" rIns="0" bIns="0" rtlCol="0" anchor="ctr"/>
          <a:lstStyle/>
          <a:p>
            <a:pPr indent="0" marL="0">
              <a:buNone/>
            </a:pPr>
            <a:r>
              <a:rPr lang="en-US" sz="870" b="1" dirty="0">
                <a:solidFill>
                  <a:srgbClr val="6B7080"/>
                </a:solidFill>
                <a:latin typeface="Malgun Gothic" pitchFamily="34" charset="0"/>
                <a:ea typeface="Malgun Gothic" pitchFamily="34" charset="-122"/>
                <a:cs typeface="Malgun Gothic" pitchFamily="34" charset="-120"/>
              </a:rPr>
              <a:t>SECONDARY — GAME STATE ARCHITECTURE</a:t>
            </a:r>
            <a:endParaRPr lang="en-US" sz="870" dirty="0"/>
          </a:p>
        </p:txBody>
      </p:sp>
      <p:sp>
        <p:nvSpPr>
          <p:cNvPr id="42" name="Text 40"/>
          <p:cNvSpPr txBox="1"/>
          <p:nvPr/>
        </p:nvSpPr>
        <p:spPr>
          <a:xfrm>
            <a:off x="7360920" y="1389888"/>
            <a:ext cx="4279392" cy="310896"/>
          </a:xfrm>
          <a:prstGeom prst="rect">
            <a:avLst/>
          </a:prstGeom>
          <a:noFill/>
          <a:ln/>
        </p:spPr>
        <p:txBody>
          <a:bodyPr wrap="square" lIns="0" tIns="0" rIns="0" bIns="0" rtlCol="0" anchor="ctr"/>
          <a:lstStyle/>
          <a:p>
            <a:pPr indent="0" marL="0">
              <a:buNone/>
            </a:pPr>
            <a:r>
              <a:rPr lang="en-US" sz="1200" b="1" dirty="0">
                <a:solidFill>
                  <a:srgbClr val="121428"/>
                </a:solidFill>
                <a:latin typeface="Malgun Gothic" pitchFamily="34" charset="0"/>
                <a:ea typeface="Malgun Gothic" pitchFamily="34" charset="-122"/>
                <a:cs typeface="Malgun Gothic" pitchFamily="34" charset="-120"/>
              </a:rPr>
              <a:t>이벤트 상태의 소유권을 오브젝트에서 공통 객체로 이동</a:t>
            </a:r>
            <a:endParaRPr lang="en-US" sz="1200" dirty="0"/>
          </a:p>
        </p:txBody>
      </p:sp>
      <p:sp>
        <p:nvSpPr>
          <p:cNvPr id="43" name="Text 41"/>
          <p:cNvSpPr txBox="1"/>
          <p:nvPr/>
        </p:nvSpPr>
        <p:spPr>
          <a:xfrm>
            <a:off x="7360920" y="1792224"/>
            <a:ext cx="4279392" cy="164592"/>
          </a:xfrm>
          <a:prstGeom prst="rect">
            <a:avLst/>
          </a:prstGeom>
          <a:noFill/>
          <a:ln/>
        </p:spPr>
        <p:txBody>
          <a:bodyPr wrap="square" lIns="0" tIns="0" rIns="0" bIns="0" rtlCol="0" anchor="ctr"/>
          <a:lstStyle/>
          <a:p>
            <a:pPr indent="0" marL="0">
              <a:buNone/>
            </a:pPr>
            <a:r>
              <a:rPr lang="en-US" sz="800" b="1" spc="100" kern="0" dirty="0">
                <a:solidFill>
                  <a:srgbClr val="6B7080"/>
                </a:solidFill>
              </a:rPr>
              <a:t>BEFORE</a:t>
            </a:r>
            <a:endParaRPr lang="en-US" sz="800" dirty="0"/>
          </a:p>
        </p:txBody>
      </p:sp>
      <p:sp>
        <p:nvSpPr>
          <p:cNvPr id="44" name="Shape 42"/>
          <p:cNvSpPr/>
          <p:nvPr/>
        </p:nvSpPr>
        <p:spPr>
          <a:xfrm>
            <a:off x="7360920" y="1975104"/>
            <a:ext cx="4279392" cy="502920"/>
          </a:xfrm>
          <a:prstGeom prst="roundRect">
            <a:avLst>
              <a:gd name="adj" fmla="val 10909"/>
            </a:avLst>
          </a:prstGeom>
          <a:solidFill>
            <a:srgbClr val="F1F1F5"/>
          </a:solidFill>
          <a:ln/>
        </p:spPr>
      </p:sp>
      <p:sp>
        <p:nvSpPr>
          <p:cNvPr id="45" name="Text 43"/>
          <p:cNvSpPr txBox="1"/>
          <p:nvPr/>
        </p:nvSpPr>
        <p:spPr>
          <a:xfrm>
            <a:off x="7470648" y="2020824"/>
            <a:ext cx="4059936" cy="411480"/>
          </a:xfrm>
          <a:prstGeom prst="rect">
            <a:avLst/>
          </a:prstGeom>
          <a:noFill/>
          <a:ln/>
        </p:spPr>
        <p:txBody>
          <a:bodyPr wrap="square" lIns="0" tIns="0" rIns="0" bIns="0" rtlCol="0" anchor="ctr"/>
          <a:lstStyle/>
          <a:p>
            <a:pPr indent="0" marL="0">
              <a:lnSpc>
                <a:spcPct val="125000"/>
              </a:lnSpc>
              <a:buNone/>
            </a:pPr>
            <a:r>
              <a:rPr lang="en-US" sz="780" dirty="0">
                <a:solidFill>
                  <a:srgbClr val="444858"/>
                </a:solidFill>
                <a:latin typeface="Consolas" pitchFamily="34" charset="0"/>
                <a:ea typeface="Consolas" pitchFamily="34" charset="-122"/>
                <a:cs typeface="Consolas" pitchFamily="34" charset="-120"/>
              </a:rPr>
              <a:t>EnemyFindZone → 자체 상태
</a:t>
            </a:r>
            <a:pPr indent="0" marL="0">
              <a:lnSpc>
                <a:spcPct val="125000"/>
              </a:lnSpc>
              <a:buNone/>
            </a:pPr>
            <a:r>
              <a:rPr lang="en-US" sz="780" dirty="0">
                <a:solidFill>
                  <a:srgbClr val="444858"/>
                </a:solidFill>
                <a:latin typeface="Consolas" pitchFamily="34" charset="0"/>
                <a:ea typeface="Consolas" pitchFamily="34" charset="-122"/>
                <a:cs typeface="Consolas" pitchFamily="34" charset="-120"/>
              </a:rPr>
              <a:t>DoorTrigger     → 자체 상태
</a:t>
            </a:r>
            <a:pPr indent="0" marL="0">
              <a:lnSpc>
                <a:spcPct val="125000"/>
              </a:lnSpc>
              <a:buNone/>
            </a:pPr>
            <a:r>
              <a:rPr lang="en-US" sz="780" dirty="0">
                <a:solidFill>
                  <a:srgbClr val="444858"/>
                </a:solidFill>
                <a:latin typeface="Consolas" pitchFamily="34" charset="0"/>
                <a:ea typeface="Consolas" pitchFamily="34" charset="-122"/>
                <a:cs typeface="Consolas" pitchFamily="34" charset="-120"/>
              </a:rPr>
              <a:t>Dialogue        → 자체 상태</a:t>
            </a:r>
            <a:endParaRPr lang="en-US" sz="780" dirty="0"/>
          </a:p>
        </p:txBody>
      </p:sp>
      <p:sp>
        <p:nvSpPr>
          <p:cNvPr id="46" name="Text 44"/>
          <p:cNvSpPr txBox="1"/>
          <p:nvPr/>
        </p:nvSpPr>
        <p:spPr>
          <a:xfrm>
            <a:off x="7360920" y="2523744"/>
            <a:ext cx="4279392" cy="365760"/>
          </a:xfrm>
          <a:prstGeom prst="rect">
            <a:avLst/>
          </a:prstGeom>
          <a:noFill/>
          <a:ln/>
        </p:spPr>
        <p:txBody>
          <a:bodyPr wrap="square" lIns="0" tIns="0" rIns="0" bIns="0" rtlCol="0" anchor="ctr"/>
          <a:lstStyle/>
          <a:p>
            <a:pPr indent="0" marL="0">
              <a:lnSpc>
                <a:spcPct val="122000"/>
              </a:lnSpc>
              <a:buNone/>
            </a:pPr>
            <a:r>
              <a:rPr lang="en-US" sz="830" dirty="0">
                <a:solidFill>
                  <a:srgbClr val="444858"/>
                </a:solidFill>
                <a:latin typeface="Malgun Gothic" pitchFamily="34" charset="0"/>
                <a:ea typeface="Malgun Gothic" pitchFamily="34" charset="-122"/>
                <a:cs typeface="Malgun Gothic" pitchFamily="34" charset="-120"/>
              </a:rPr>
              <a:t>Scene이 재생성되거나 Save/Load를 수행하면 각 오브젝트가 진행 상태를 일관되게 공유하기 어려웠습니다.</a:t>
            </a:r>
            <a:endParaRPr lang="en-US" sz="830" dirty="0"/>
          </a:p>
        </p:txBody>
      </p:sp>
      <p:sp>
        <p:nvSpPr>
          <p:cNvPr id="47" name="Text 45"/>
          <p:cNvSpPr txBox="1"/>
          <p:nvPr/>
        </p:nvSpPr>
        <p:spPr>
          <a:xfrm>
            <a:off x="7360920" y="2926080"/>
            <a:ext cx="4279392" cy="164592"/>
          </a:xfrm>
          <a:prstGeom prst="rect">
            <a:avLst/>
          </a:prstGeom>
          <a:noFill/>
          <a:ln/>
        </p:spPr>
        <p:txBody>
          <a:bodyPr wrap="square" lIns="0" tIns="0" rIns="0" bIns="0" rtlCol="0" anchor="ctr"/>
          <a:lstStyle/>
          <a:p>
            <a:pPr indent="0" marL="0">
              <a:buNone/>
            </a:pPr>
            <a:r>
              <a:rPr lang="en-US" sz="800" b="1" spc="100" kern="0" dirty="0">
                <a:solidFill>
                  <a:srgbClr val="6B7080"/>
                </a:solidFill>
              </a:rPr>
              <a:t>AFTER</a:t>
            </a:r>
            <a:endParaRPr lang="en-US" sz="800" dirty="0"/>
          </a:p>
        </p:txBody>
      </p:sp>
      <p:sp>
        <p:nvSpPr>
          <p:cNvPr id="48" name="Shape 46"/>
          <p:cNvSpPr/>
          <p:nvPr/>
        </p:nvSpPr>
        <p:spPr>
          <a:xfrm>
            <a:off x="7360920" y="3108960"/>
            <a:ext cx="4279392" cy="658368"/>
          </a:xfrm>
          <a:prstGeom prst="roundRect">
            <a:avLst>
              <a:gd name="adj" fmla="val 8333"/>
            </a:avLst>
          </a:prstGeom>
          <a:solidFill>
            <a:srgbClr val="F1F1F5"/>
          </a:solidFill>
          <a:ln/>
        </p:spPr>
      </p:sp>
      <p:sp>
        <p:nvSpPr>
          <p:cNvPr id="49" name="Text 47"/>
          <p:cNvSpPr txBox="1"/>
          <p:nvPr/>
        </p:nvSpPr>
        <p:spPr>
          <a:xfrm>
            <a:off x="7360920" y="3145536"/>
            <a:ext cx="4279392" cy="585216"/>
          </a:xfrm>
          <a:prstGeom prst="rect">
            <a:avLst/>
          </a:prstGeom>
          <a:noFill/>
          <a:ln/>
        </p:spPr>
        <p:txBody>
          <a:bodyPr wrap="square" lIns="0" tIns="0" rIns="0" bIns="0" rtlCol="0" anchor="ctr"/>
          <a:lstStyle/>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GameFlag</a:t>
            </a:r>
            <a:endParaRPr lang="en-US" sz="800" dirty="0"/>
          </a:p>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   /      |      \</a:t>
            </a:r>
            <a:endParaRPr lang="en-US" sz="800" dirty="0"/>
          </a:p>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EnemyFindZone Door Dialogue</a:t>
            </a:r>
            <a:endParaRPr lang="en-US" sz="800" dirty="0"/>
          </a:p>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              ↑</a:t>
            </a:r>
            <a:endParaRPr lang="en-US" sz="800" dirty="0"/>
          </a:p>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           Save Data</a:t>
            </a:r>
            <a:endParaRPr lang="en-US" sz="800" dirty="0"/>
          </a:p>
        </p:txBody>
      </p:sp>
      <p:sp>
        <p:nvSpPr>
          <p:cNvPr id="50" name="Text 48"/>
          <p:cNvSpPr txBox="1"/>
          <p:nvPr/>
        </p:nvSpPr>
        <p:spPr>
          <a:xfrm>
            <a:off x="7360920" y="3803904"/>
            <a:ext cx="4279392" cy="237744"/>
          </a:xfrm>
          <a:prstGeom prst="rect">
            <a:avLst/>
          </a:prstGeom>
          <a:noFill/>
          <a:ln/>
        </p:spPr>
        <p:txBody>
          <a:bodyPr wrap="square" lIns="0" tIns="0" rIns="0" bIns="0" rtlCol="0" anchor="ctr"/>
          <a:lstStyle/>
          <a:p>
            <a:pPr indent="0" marL="0">
              <a:buNone/>
            </a:pPr>
            <a:r>
              <a:rPr lang="en-US" sz="830" dirty="0">
                <a:solidFill>
                  <a:srgbClr val="1F2A6B"/>
                </a:solidFill>
                <a:latin typeface="Consolas" pitchFamily="34" charset="0"/>
                <a:ea typeface="Consolas" pitchFamily="34" charset="-122"/>
                <a:cs typeface="Consolas" pitchFamily="34" charset="-120"/>
              </a:rPr>
              <a:t>GameFlag</a:t>
            </a:r>
            <a:pPr indent="0" marL="0">
              <a:buNone/>
            </a:pPr>
            <a:r>
              <a:rPr lang="en-US" sz="830" dirty="0">
                <a:solidFill>
                  <a:srgbClr val="444858"/>
                </a:solidFill>
                <a:latin typeface="Malgun Gothic" pitchFamily="34" charset="0"/>
                <a:ea typeface="Malgun Gothic" pitchFamily="34" charset="-122"/>
                <a:cs typeface="Malgun Gothic" pitchFamily="34" charset="-120"/>
              </a:rPr>
              <a:t>가 Runtime Event State와 Save Data를 연결하는 역할을 합니다.</a:t>
            </a:r>
            <a:endParaRPr lang="en-US" sz="830" dirty="0"/>
          </a:p>
        </p:txBody>
      </p:sp>
      <p:sp>
        <p:nvSpPr>
          <p:cNvPr id="51" name="Shape 49"/>
          <p:cNvSpPr/>
          <p:nvPr/>
        </p:nvSpPr>
        <p:spPr>
          <a:xfrm>
            <a:off x="7360920" y="4078224"/>
            <a:ext cx="4279392" cy="1645920"/>
          </a:xfrm>
          <a:prstGeom prst="roundRect">
            <a:avLst>
              <a:gd name="adj" fmla="val 3333"/>
            </a:avLst>
          </a:prstGeom>
          <a:solidFill>
            <a:srgbClr val="13151F"/>
          </a:solidFill>
          <a:ln/>
        </p:spPr>
      </p:sp>
      <p:sp>
        <p:nvSpPr>
          <p:cNvPr id="52" name="Shape 50"/>
          <p:cNvSpPr/>
          <p:nvPr/>
        </p:nvSpPr>
        <p:spPr>
          <a:xfrm>
            <a:off x="7360920" y="4078224"/>
            <a:ext cx="4279392" cy="274320"/>
          </a:xfrm>
          <a:prstGeom prst="roundRect">
            <a:avLst>
              <a:gd name="adj" fmla="val 20000"/>
            </a:avLst>
          </a:prstGeom>
          <a:solidFill>
            <a:srgbClr val="0D0E16"/>
          </a:solidFill>
          <a:ln/>
        </p:spPr>
      </p:sp>
      <p:sp>
        <p:nvSpPr>
          <p:cNvPr id="53" name="Shape 51"/>
          <p:cNvSpPr/>
          <p:nvPr/>
        </p:nvSpPr>
        <p:spPr>
          <a:xfrm>
            <a:off x="7360920" y="4215384"/>
            <a:ext cx="4279392" cy="137160"/>
          </a:xfrm>
          <a:prstGeom prst="rect">
            <a:avLst/>
          </a:prstGeom>
          <a:solidFill>
            <a:srgbClr val="0D0E16"/>
          </a:solidFill>
          <a:ln/>
        </p:spPr>
      </p:sp>
      <p:sp>
        <p:nvSpPr>
          <p:cNvPr id="54" name="Text 52"/>
          <p:cNvSpPr txBox="1"/>
          <p:nvPr/>
        </p:nvSpPr>
        <p:spPr>
          <a:xfrm>
            <a:off x="7470648" y="4078224"/>
            <a:ext cx="4059936"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GameFlag.cs</a:t>
            </a:r>
            <a:endParaRPr lang="en-US" sz="850" dirty="0"/>
          </a:p>
        </p:txBody>
      </p:sp>
      <p:sp>
        <p:nvSpPr>
          <p:cNvPr id="55" name="Text 53"/>
          <p:cNvSpPr txBox="1"/>
          <p:nvPr/>
        </p:nvSpPr>
        <p:spPr>
          <a:xfrm>
            <a:off x="7488936" y="4425696"/>
            <a:ext cx="4023360" cy="1225296"/>
          </a:xfrm>
          <a:prstGeom prst="rect">
            <a:avLst/>
          </a:prstGeom>
          <a:noFill/>
          <a:ln/>
        </p:spPr>
        <p:txBody>
          <a:bodyPr wrap="square" lIns="0" tIns="0" rIns="0" bIns="0" rtlCol="0" anchor="t"/>
          <a:lstStyle/>
          <a:p>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public</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void</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Set(</a:t>
            </a:r>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bool</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value)</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_value = value;</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40" dirty="0">
                <a:solidFill>
                  <a:srgbClr val="4EC9B0"/>
                </a:solidFill>
                <a:latin typeface="Consolas" pitchFamily="34" charset="0"/>
                <a:ea typeface="Consolas" pitchFamily="34" charset="-122"/>
                <a:cs typeface="Consolas" pitchFamily="34" charset="-120"/>
              </a:rPr>
              <a:t>GameFlags</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.Set(name, value);</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a:p>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public</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void</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RestoreFromSave()</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_value = </a:t>
            </a:r>
            <a:pPr indent="0" marL="0">
              <a:lnSpc>
                <a:spcPct val="118000"/>
              </a:lnSpc>
              <a:buNone/>
            </a:pPr>
            <a:r>
              <a:rPr lang="en-US" sz="740" dirty="0">
                <a:solidFill>
                  <a:srgbClr val="4EC9B0"/>
                </a:solidFill>
                <a:latin typeface="Consolas" pitchFamily="34" charset="0"/>
                <a:ea typeface="Consolas" pitchFamily="34" charset="-122"/>
                <a:cs typeface="Consolas" pitchFamily="34" charset="-120"/>
              </a:rPr>
              <a:t>GameFlags</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.GetBool(name, </a:t>
            </a:r>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false</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p:txBody>
      </p:sp>
      <p:sp>
        <p:nvSpPr>
          <p:cNvPr id="56" name="Shape 54"/>
          <p:cNvSpPr/>
          <p:nvPr/>
        </p:nvSpPr>
        <p:spPr>
          <a:xfrm>
            <a:off x="7360920" y="5852160"/>
            <a:ext cx="32004" cy="502920"/>
          </a:xfrm>
          <a:prstGeom prst="rect">
            <a:avLst/>
          </a:prstGeom>
          <a:solidFill>
            <a:srgbClr val="3355CC"/>
          </a:solidFill>
          <a:ln/>
        </p:spPr>
      </p:sp>
      <p:sp>
        <p:nvSpPr>
          <p:cNvPr id="57" name="Text 55"/>
          <p:cNvSpPr txBox="1"/>
          <p:nvPr/>
        </p:nvSpPr>
        <p:spPr>
          <a:xfrm>
            <a:off x="7498080" y="5806440"/>
            <a:ext cx="4142232" cy="594360"/>
          </a:xfrm>
          <a:prstGeom prst="rect">
            <a:avLst/>
          </a:prstGeom>
          <a:noFill/>
          <a:ln/>
        </p:spPr>
        <p:txBody>
          <a:bodyPr wrap="square" lIns="0" tIns="0" rIns="0" bIns="0" rtlCol="0" anchor="t"/>
          <a:lstStyle/>
          <a:p>
            <a:pPr indent="0" marL="0">
              <a:lnSpc>
                <a:spcPct val="120000"/>
              </a:lnSpc>
              <a:buNone/>
            </a:pPr>
            <a:r>
              <a:rPr lang="en-US" sz="870" dirty="0">
                <a:solidFill>
                  <a:srgbClr val="121428"/>
                </a:solidFill>
                <a:latin typeface="Malgun Gothic" pitchFamily="34" charset="0"/>
                <a:ea typeface="Malgun Gothic" pitchFamily="34" charset="-122"/>
                <a:cs typeface="Malgun Gothic" pitchFamily="34" charset="-120"/>
              </a:rPr>
              <a:t>이벤트 상태의 소유권을 개별 오브젝트에서 공통 상태 객체로 분리해, Scene 재방문과 Save/Load 이후에도 동일한 진행 상태를 참조하도록 구성했습니다.</a:t>
            </a:r>
            <a:endParaRPr lang="en-US" sz="8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19456"/>
          </a:xfrm>
          <a:prstGeom prst="rect">
            <a:avLst/>
          </a:prstGeom>
          <a:noFill/>
          <a:ln/>
        </p:spPr>
        <p:txBody>
          <a:bodyPr wrap="square" lIns="0" tIns="0" rIns="0" bIns="0" rtlCol="0" anchor="ctr"/>
          <a:lstStyle/>
          <a:p>
            <a:pPr indent="0" marL="0">
              <a:buNone/>
            </a:pPr>
            <a:r>
              <a:rPr lang="en-US" sz="1000" b="1" spc="100" kern="0" dirty="0">
                <a:solidFill>
                  <a:srgbClr val="6B7080"/>
                </a:solidFill>
                <a:latin typeface="Malgun Gothic" pitchFamily="34" charset="0"/>
                <a:ea typeface="Malgun Gothic" pitchFamily="34" charset="-122"/>
                <a:cs typeface="Malgun Gothic" pitchFamily="34" charset="-120"/>
              </a:rPr>
              <a:t>TEAM PROJECT · 기획 주도 · 개발담당</a:t>
            </a:r>
            <a:endParaRPr lang="en-US" sz="1000" dirty="0"/>
          </a:p>
        </p:txBody>
      </p:sp>
      <p:sp>
        <p:nvSpPr>
          <p:cNvPr id="3" name="Text 1"/>
          <p:cNvSpPr txBox="1"/>
          <p:nvPr/>
        </p:nvSpPr>
        <p:spPr>
          <a:xfrm>
            <a:off x="548640" y="603504"/>
            <a:ext cx="4572000" cy="292608"/>
          </a:xfrm>
          <a:prstGeom prst="rect">
            <a:avLst/>
          </a:prstGeom>
          <a:noFill/>
          <a:ln/>
        </p:spPr>
        <p:txBody>
          <a:bodyPr wrap="square" lIns="0" tIns="0" rIns="0" bIns="0" rtlCol="0" anchor="ctr"/>
          <a:lstStyle/>
          <a:p>
            <a:pPr indent="0" marL="0">
              <a:buNone/>
            </a:pPr>
            <a:r>
              <a:rPr lang="en-US" sz="1500" b="1" dirty="0">
                <a:solidFill>
                  <a:srgbClr val="121428"/>
                </a:solidFill>
                <a:latin typeface="Malgun Gothic" pitchFamily="34" charset="0"/>
                <a:ea typeface="Malgun Gothic" pitchFamily="34" charset="-122"/>
                <a:cs typeface="Malgun Gothic" pitchFamily="34" charset="-120"/>
              </a:rPr>
              <a:t>CRAZY COMMUTER</a:t>
            </a:r>
            <a:endParaRPr lang="en-US" sz="1500" dirty="0"/>
          </a:p>
        </p:txBody>
      </p:sp>
      <p:sp>
        <p:nvSpPr>
          <p:cNvPr id="4" name="Text 2"/>
          <p:cNvSpPr txBox="1"/>
          <p:nvPr/>
        </p:nvSpPr>
        <p:spPr>
          <a:xfrm>
            <a:off x="548640" y="960120"/>
            <a:ext cx="5760720" cy="914400"/>
          </a:xfrm>
          <a:prstGeom prst="rect">
            <a:avLst/>
          </a:prstGeom>
          <a:noFill/>
          <a:ln/>
        </p:spPr>
        <p:txBody>
          <a:bodyPr wrap="square" lIns="0" tIns="0" rIns="0" bIns="0" rtlCol="0" anchor="ctr"/>
          <a:lstStyle/>
          <a:p>
            <a:pPr indent="0" marL="0">
              <a:lnSpc>
                <a:spcPct val="115000"/>
              </a:lnSpc>
              <a:buNone/>
            </a:pPr>
            <a:r>
              <a:rPr lang="en-US" sz="2500" b="1" dirty="0">
                <a:solidFill>
                  <a:srgbClr val="121428"/>
                </a:solidFill>
                <a:latin typeface="Malgun Gothic" pitchFamily="34" charset="0"/>
                <a:ea typeface="Malgun Gothic" pitchFamily="34" charset="-122"/>
                <a:cs typeface="Malgun Gothic" pitchFamily="34" charset="-120"/>
              </a:rPr>
              <a:t>움직이는 차량을</a:t>
            </a:r>
            <a:endParaRPr lang="en-US" sz="2500" dirty="0"/>
          </a:p>
          <a:p>
            <a:pPr indent="0" marL="0">
              <a:lnSpc>
                <a:spcPct val="115000"/>
              </a:lnSpc>
              <a:buNone/>
            </a:pPr>
            <a:r>
              <a:rPr lang="en-US" sz="2500" b="1" dirty="0">
                <a:solidFill>
                  <a:srgbClr val="121428"/>
                </a:solidFill>
                <a:latin typeface="Malgun Gothic" pitchFamily="34" charset="0"/>
                <a:ea typeface="Malgun Gothic" pitchFamily="34" charset="-122"/>
                <a:cs typeface="Malgun Gothic" pitchFamily="34" charset="-120"/>
              </a:rPr>
              <a:t>장애물이 아닌 '발판'으로</a:t>
            </a:r>
            <a:endParaRPr lang="en-US" sz="2500" dirty="0"/>
          </a:p>
        </p:txBody>
      </p:sp>
      <p:sp>
        <p:nvSpPr>
          <p:cNvPr id="5" name="Text 3"/>
          <p:cNvSpPr txBox="1"/>
          <p:nvPr/>
        </p:nvSpPr>
        <p:spPr>
          <a:xfrm>
            <a:off x="548640" y="1938528"/>
            <a:ext cx="4434840" cy="1417320"/>
          </a:xfrm>
          <a:prstGeom prst="rect">
            <a:avLst/>
          </a:prstGeom>
          <a:noFill/>
          <a:ln/>
        </p:spPr>
        <p:txBody>
          <a:bodyPr wrap="square" lIns="0" tIns="0" rIns="0" bIns="0" rtlCol="0" anchor="ctr"/>
          <a:lstStyle/>
          <a:p>
            <a:pPr indent="0" marL="0">
              <a:lnSpc>
                <a:spcPct val="128000"/>
              </a:lnSpc>
              <a:buNone/>
            </a:pPr>
            <a:r>
              <a:rPr lang="en-US" sz="980" dirty="0">
                <a:solidFill>
                  <a:srgbClr val="444858"/>
                </a:solidFill>
                <a:latin typeface="Malgun Gothic" pitchFamily="34" charset="0"/>
                <a:ea typeface="Malgun Gothic" pitchFamily="34" charset="-122"/>
                <a:cs typeface="Malgun Gothic" pitchFamily="34" charset="-120"/>
              </a:rPr>
              <a:t>게임프로그래밍 수업의 러너 게임 주제에서 출발해, ClusterTruck의 플레이 방식에 착안한 3D 러너·플랫포머 게임을 기획했습니다. 플레이어는 도로를 달리는 차량 위를 뛰어다니며 결승점까지 이동합니다.</a:t>
            </a:r>
            <a:endParaRPr lang="en-US" sz="980" dirty="0"/>
          </a:p>
          <a:p>
            <a:pPr indent="0" marL="0">
              <a:lnSpc>
                <a:spcPct val="128000"/>
              </a:lnSpc>
              <a:buNone/>
            </a:pPr>
            <a:endParaRPr lang="en-US" sz="980" dirty="0"/>
          </a:p>
          <a:p>
            <a:pPr indent="0" marL="0">
              <a:lnSpc>
                <a:spcPct val="128000"/>
              </a:lnSpc>
              <a:buNone/>
            </a:pPr>
            <a:r>
              <a:rPr lang="en-US" sz="980" dirty="0">
                <a:solidFill>
                  <a:srgbClr val="444858"/>
                </a:solidFill>
                <a:latin typeface="Malgun Gothic" pitchFamily="34" charset="0"/>
                <a:ea typeface="Malgun Gothic" pitchFamily="34" charset="-122"/>
                <a:cs typeface="Malgun Gothic" pitchFamily="34" charset="-120"/>
              </a:rPr>
              <a:t>2인 팀으로 개발했으며, 콘셉트 기획과 함께 플레이어 조작, 차량 이동·생성 시스템, Stage 1·2, 인게임 UI를 담당했습니다.</a:t>
            </a:r>
            <a:endParaRPr lang="en-US" sz="980" dirty="0"/>
          </a:p>
        </p:txBody>
      </p:sp>
      <p:sp>
        <p:nvSpPr>
          <p:cNvPr id="6" name="Text 4"/>
          <p:cNvSpPr txBox="1"/>
          <p:nvPr/>
        </p:nvSpPr>
        <p:spPr>
          <a:xfrm>
            <a:off x="548640" y="3493008"/>
            <a:ext cx="3200400" cy="219456"/>
          </a:xfrm>
          <a:prstGeom prst="rect">
            <a:avLst/>
          </a:prstGeom>
          <a:noFill/>
          <a:ln/>
        </p:spPr>
        <p:txBody>
          <a:bodyPr wrap="square" lIns="0" tIns="0" rIns="0" bIns="0" rtlCol="0" anchor="ctr"/>
          <a:lstStyle/>
          <a:p>
            <a:pPr indent="0" marL="0">
              <a:buNone/>
            </a:pPr>
            <a:r>
              <a:rPr lang="en-US" sz="870" b="1" spc="50" kern="0" dirty="0">
                <a:solidFill>
                  <a:srgbClr val="121428"/>
                </a:solidFill>
                <a:latin typeface="Malgun Gothic" pitchFamily="34" charset="0"/>
                <a:ea typeface="Malgun Gothic" pitchFamily="34" charset="-122"/>
                <a:cs typeface="Malgun Gothic" pitchFamily="34" charset="-120"/>
              </a:rPr>
              <a:t>VEHICLE SYSTEM — 하나의 발판 시스템</a:t>
            </a:r>
            <a:endParaRPr lang="en-US" sz="870" dirty="0"/>
          </a:p>
        </p:txBody>
      </p:sp>
      <p:sp>
        <p:nvSpPr>
          <p:cNvPr id="7" name="Shape 5"/>
          <p:cNvSpPr/>
          <p:nvPr/>
        </p:nvSpPr>
        <p:spPr>
          <a:xfrm>
            <a:off x="548640" y="3648456"/>
            <a:ext cx="3931920" cy="2217420"/>
          </a:xfrm>
          <a:prstGeom prst="roundRect">
            <a:avLst>
              <a:gd name="adj" fmla="val 3299"/>
            </a:avLst>
          </a:prstGeom>
          <a:solidFill>
            <a:srgbClr val="13151F"/>
          </a:solidFill>
          <a:ln/>
        </p:spPr>
      </p:sp>
      <p:sp>
        <p:nvSpPr>
          <p:cNvPr id="8" name="Shape 6"/>
          <p:cNvSpPr/>
          <p:nvPr/>
        </p:nvSpPr>
        <p:spPr>
          <a:xfrm>
            <a:off x="685800" y="3785616"/>
            <a:ext cx="3657600" cy="274320"/>
          </a:xfrm>
          <a:prstGeom prst="roundRect">
            <a:avLst>
              <a:gd name="adj" fmla="val 16667"/>
            </a:avLst>
          </a:prstGeom>
          <a:solidFill>
            <a:srgbClr val="181B27"/>
          </a:solidFill>
          <a:ln/>
        </p:spPr>
      </p:sp>
      <p:sp>
        <p:nvSpPr>
          <p:cNvPr id="9" name="Text 7"/>
          <p:cNvSpPr txBox="1"/>
          <p:nvPr/>
        </p:nvSpPr>
        <p:spPr>
          <a:xfrm>
            <a:off x="685800" y="3785616"/>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VehicleSpawner</a:t>
            </a:r>
            <a:endParaRPr lang="en-US" sz="820" dirty="0"/>
          </a:p>
        </p:txBody>
      </p:sp>
      <p:sp>
        <p:nvSpPr>
          <p:cNvPr id="10" name="Text 8"/>
          <p:cNvSpPr txBox="1"/>
          <p:nvPr/>
        </p:nvSpPr>
        <p:spPr>
          <a:xfrm>
            <a:off x="685800" y="4059936"/>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1" name="Shape 9"/>
          <p:cNvSpPr/>
          <p:nvPr/>
        </p:nvSpPr>
        <p:spPr>
          <a:xfrm>
            <a:off x="685800" y="4119372"/>
            <a:ext cx="3657600" cy="274320"/>
          </a:xfrm>
          <a:prstGeom prst="roundRect">
            <a:avLst>
              <a:gd name="adj" fmla="val 16667"/>
            </a:avLst>
          </a:prstGeom>
          <a:solidFill>
            <a:srgbClr val="181B27"/>
          </a:solidFill>
          <a:ln/>
        </p:spPr>
      </p:sp>
      <p:sp>
        <p:nvSpPr>
          <p:cNvPr id="12" name="Text 10"/>
          <p:cNvSpPr txBox="1"/>
          <p:nvPr/>
        </p:nvSpPr>
        <p:spPr>
          <a:xfrm>
            <a:off x="685800" y="4119372"/>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Spawn Position Validation</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겹쳐 생성되지 않는 위치인지 검사</a:t>
            </a:r>
            <a:endParaRPr lang="en-US" sz="820" dirty="0"/>
          </a:p>
        </p:txBody>
      </p:sp>
      <p:sp>
        <p:nvSpPr>
          <p:cNvPr id="13" name="Text 11"/>
          <p:cNvSpPr txBox="1"/>
          <p:nvPr/>
        </p:nvSpPr>
        <p:spPr>
          <a:xfrm>
            <a:off x="685800" y="4393692"/>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4" name="Shape 12"/>
          <p:cNvSpPr/>
          <p:nvPr/>
        </p:nvSpPr>
        <p:spPr>
          <a:xfrm>
            <a:off x="685800" y="4453128"/>
            <a:ext cx="3657600" cy="274320"/>
          </a:xfrm>
          <a:prstGeom prst="roundRect">
            <a:avLst>
              <a:gd name="adj" fmla="val 16667"/>
            </a:avLst>
          </a:prstGeom>
          <a:solidFill>
            <a:srgbClr val="181B27"/>
          </a:solidFill>
          <a:ln/>
        </p:spPr>
      </p:sp>
      <p:sp>
        <p:nvSpPr>
          <p:cNvPr id="15" name="Text 13"/>
          <p:cNvSpPr txBox="1"/>
          <p:nvPr/>
        </p:nvSpPr>
        <p:spPr>
          <a:xfrm>
            <a:off x="685800" y="4453128"/>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Vehicle Navigation</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Look-Ahead Steering으로 코너 대응</a:t>
            </a:r>
            <a:endParaRPr lang="en-US" sz="820" dirty="0"/>
          </a:p>
        </p:txBody>
      </p:sp>
      <p:sp>
        <p:nvSpPr>
          <p:cNvPr id="16" name="Text 14"/>
          <p:cNvSpPr txBox="1"/>
          <p:nvPr/>
        </p:nvSpPr>
        <p:spPr>
          <a:xfrm>
            <a:off x="685800" y="4727448"/>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7" name="Shape 15"/>
          <p:cNvSpPr/>
          <p:nvPr/>
        </p:nvSpPr>
        <p:spPr>
          <a:xfrm>
            <a:off x="685800" y="4786884"/>
            <a:ext cx="3657600" cy="274320"/>
          </a:xfrm>
          <a:prstGeom prst="roundRect">
            <a:avLst>
              <a:gd name="adj" fmla="val 16667"/>
            </a:avLst>
          </a:prstGeom>
          <a:solidFill>
            <a:srgbClr val="26317A"/>
          </a:solidFill>
          <a:ln/>
        </p:spPr>
      </p:sp>
      <p:sp>
        <p:nvSpPr>
          <p:cNvPr id="18" name="Text 16"/>
          <p:cNvSpPr txBox="1"/>
          <p:nvPr/>
        </p:nvSpPr>
        <p:spPr>
          <a:xfrm>
            <a:off x="685800" y="4786884"/>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Vehicle Movement</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플레이어의 발판이 되는 이동 처리</a:t>
            </a:r>
            <a:endParaRPr lang="en-US" sz="820" dirty="0"/>
          </a:p>
        </p:txBody>
      </p:sp>
      <p:sp>
        <p:nvSpPr>
          <p:cNvPr id="19" name="Text 17"/>
          <p:cNvSpPr txBox="1"/>
          <p:nvPr/>
        </p:nvSpPr>
        <p:spPr>
          <a:xfrm>
            <a:off x="685800" y="5061204"/>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0" name="Shape 18"/>
          <p:cNvSpPr/>
          <p:nvPr/>
        </p:nvSpPr>
        <p:spPr>
          <a:xfrm>
            <a:off x="685800" y="5120640"/>
            <a:ext cx="3657600" cy="274320"/>
          </a:xfrm>
          <a:prstGeom prst="roundRect">
            <a:avLst>
              <a:gd name="adj" fmla="val 16667"/>
            </a:avLst>
          </a:prstGeom>
          <a:solidFill>
            <a:srgbClr val="181B27"/>
          </a:solidFill>
          <a:ln/>
        </p:spPr>
      </p:sp>
      <p:sp>
        <p:nvSpPr>
          <p:cNvPr id="21" name="Text 19"/>
          <p:cNvSpPr txBox="1"/>
          <p:nvPr/>
        </p:nvSpPr>
        <p:spPr>
          <a:xfrm>
            <a:off x="685800" y="5120640"/>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Player-Vehicle Physics</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차량 속도 + 입력을 합산해 Lerp 적용</a:t>
            </a:r>
            <a:endParaRPr lang="en-US" sz="820" dirty="0"/>
          </a:p>
        </p:txBody>
      </p:sp>
      <p:sp>
        <p:nvSpPr>
          <p:cNvPr id="22" name="Text 20"/>
          <p:cNvSpPr txBox="1"/>
          <p:nvPr/>
        </p:nvSpPr>
        <p:spPr>
          <a:xfrm>
            <a:off x="685800" y="5394960"/>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3" name="Shape 21"/>
          <p:cNvSpPr/>
          <p:nvPr/>
        </p:nvSpPr>
        <p:spPr>
          <a:xfrm>
            <a:off x="685800" y="5454396"/>
            <a:ext cx="3657600" cy="274320"/>
          </a:xfrm>
          <a:prstGeom prst="roundRect">
            <a:avLst>
              <a:gd name="adj" fmla="val 16667"/>
            </a:avLst>
          </a:prstGeom>
          <a:solidFill>
            <a:srgbClr val="181B27"/>
          </a:solidFill>
          <a:ln/>
        </p:spPr>
      </p:sp>
      <p:sp>
        <p:nvSpPr>
          <p:cNvPr id="24" name="Text 22"/>
          <p:cNvSpPr txBox="1"/>
          <p:nvPr/>
        </p:nvSpPr>
        <p:spPr>
          <a:xfrm>
            <a:off x="685800" y="5454396"/>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Runtime Recovery</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정체·충돌 예외를 실패 조건으로 처리</a:t>
            </a:r>
            <a:endParaRPr lang="en-US" sz="820" dirty="0"/>
          </a:p>
        </p:txBody>
      </p:sp>
      <p:pic>
        <p:nvPicPr>
          <p:cNvPr id="25" name="Image 0" descr="/tmp/rebuild/cc_video.png">    </p:cNvPr>
          <p:cNvPicPr>
            <a:picLocks noChangeAspect="1"/>
          </p:cNvPicPr>
          <p:nvPr/>
        </p:nvPicPr>
        <p:blipFill>
          <a:blip r:embed="rId1"/>
          <a:stretch>
            <a:fillRect/>
          </a:stretch>
        </p:blipFill>
        <p:spPr>
          <a:xfrm>
            <a:off x="5166360" y="603504"/>
            <a:ext cx="6446520" cy="4480560"/>
          </a:xfrm>
          <a:prstGeom prst="rect">
            <a:avLst/>
          </a:prstGeom>
        </p:spPr>
      </p:pic>
      <p:sp>
        <p:nvSpPr>
          <p:cNvPr id="26" name="Shape 23"/>
          <p:cNvSpPr/>
          <p:nvPr/>
        </p:nvSpPr>
        <p:spPr>
          <a:xfrm>
            <a:off x="8778240" y="740664"/>
            <a:ext cx="2743200" cy="329184"/>
          </a:xfrm>
          <a:prstGeom prst="roundRect">
            <a:avLst>
              <a:gd name="adj" fmla="val 50000"/>
            </a:avLst>
          </a:prstGeom>
          <a:solidFill>
            <a:srgbClr val="0A0B12"/>
          </a:solidFill>
          <a:ln/>
        </p:spPr>
      </p:sp>
      <p:sp>
        <p:nvSpPr>
          <p:cNvPr id="27" name="Text 24">
            <a:hlinkClick r:id="rId2" tooltip=""/>
          </p:cNvPr>
          <p:cNvSpPr txBox="1"/>
          <p:nvPr/>
        </p:nvSpPr>
        <p:spPr>
          <a:xfrm>
            <a:off x="8778240" y="740664"/>
            <a:ext cx="2743200" cy="329184"/>
          </a:xfrm>
          <a:prstGeom prst="rect">
            <a:avLst/>
          </a:prstGeom>
          <a:noFill/>
          <a:ln/>
        </p:spPr>
        <p:txBody>
          <a:bodyPr wrap="square" lIns="0" tIns="0" rIns="0" bIns="0" rtlCol="0" anchor="ctr"/>
          <a:lstStyle/>
          <a:p>
            <a:pPr algn="ctr" indent="0" marL="0">
              <a:buNone/>
            </a:pPr>
            <a:r>
              <a:rPr lang="en-US" sz="850" b="1" u="sng" dirty="0">
                <a:solidFill>
                  <a:srgbClr val="FFFFFF"/>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  PLAY VIDEO — youtu.be/2wTIE9nMQDM</a:t>
            </a:r>
            <a:endParaRPr lang="en-US" sz="850" dirty="0"/>
          </a:p>
        </p:txBody>
      </p:sp>
      <p:sp>
        <p:nvSpPr>
          <p:cNvPr id="28" name="Shape 25"/>
          <p:cNvSpPr/>
          <p:nvPr/>
        </p:nvSpPr>
        <p:spPr>
          <a:xfrm>
            <a:off x="548640" y="6263640"/>
            <a:ext cx="11091672" cy="1188720"/>
          </a:xfrm>
          <a:prstGeom prst="roundRect">
            <a:avLst>
              <a:gd name="adj" fmla="val 4615"/>
            </a:avLst>
          </a:prstGeom>
          <a:solidFill>
            <a:srgbClr val="FFFFFF"/>
          </a:solidFill>
          <a:ln w="12700">
            <a:solidFill>
              <a:srgbClr val="E3E3EA"/>
            </a:solidFill>
            <a:prstDash val="solid"/>
          </a:ln>
        </p:spPr>
      </p:sp>
      <p:sp>
        <p:nvSpPr>
          <p:cNvPr id="29" name="Text 26"/>
          <p:cNvSpPr txBox="1"/>
          <p:nvPr/>
        </p:nvSpPr>
        <p:spPr>
          <a:xfrm>
            <a:off x="777240" y="6391656"/>
            <a:ext cx="1828800" cy="182880"/>
          </a:xfrm>
          <a:prstGeom prst="rect">
            <a:avLst/>
          </a:prstGeom>
          <a:noFill/>
          <a:ln/>
        </p:spPr>
        <p:txBody>
          <a:bodyPr wrap="square" lIns="0" tIns="0" rIns="0" bIns="0" rtlCol="0" anchor="ctr"/>
          <a:lstStyle/>
          <a:p>
            <a:pPr indent="0" marL="0">
              <a:buNone/>
            </a:pPr>
            <a:r>
              <a:rPr lang="en-US" sz="900" b="1" spc="100" kern="0" dirty="0">
                <a:solidFill>
                  <a:srgbClr val="121428"/>
                </a:solidFill>
              </a:rPr>
              <a:t>MY ROLE</a:t>
            </a:r>
            <a:endParaRPr lang="en-US" sz="900" dirty="0"/>
          </a:p>
        </p:txBody>
      </p:sp>
      <p:sp>
        <p:nvSpPr>
          <p:cNvPr id="30" name="Shape 27"/>
          <p:cNvSpPr/>
          <p:nvPr/>
        </p:nvSpPr>
        <p:spPr>
          <a:xfrm>
            <a:off x="777240" y="6629400"/>
            <a:ext cx="2170786" cy="237744"/>
          </a:xfrm>
          <a:prstGeom prst="roundRect">
            <a:avLst>
              <a:gd name="adj" fmla="val 50000"/>
            </a:avLst>
          </a:prstGeom>
          <a:solidFill>
            <a:srgbClr val="FFFFFF"/>
          </a:solidFill>
          <a:ln w="12700">
            <a:solidFill>
              <a:srgbClr val="D6D8E2"/>
            </a:solidFill>
            <a:prstDash val="solid"/>
          </a:ln>
        </p:spPr>
      </p:sp>
      <p:sp>
        <p:nvSpPr>
          <p:cNvPr id="31" name="Text 28"/>
          <p:cNvSpPr txBox="1"/>
          <p:nvPr/>
        </p:nvSpPr>
        <p:spPr>
          <a:xfrm>
            <a:off x="777240" y="6629400"/>
            <a:ext cx="2170786"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Game Concept / Planning</a:t>
            </a:r>
            <a:endParaRPr lang="en-US" sz="800" dirty="0"/>
          </a:p>
        </p:txBody>
      </p:sp>
      <p:sp>
        <p:nvSpPr>
          <p:cNvPr id="32" name="Shape 29"/>
          <p:cNvSpPr/>
          <p:nvPr/>
        </p:nvSpPr>
        <p:spPr>
          <a:xfrm>
            <a:off x="3039466" y="6629400"/>
            <a:ext cx="1527048" cy="237744"/>
          </a:xfrm>
          <a:prstGeom prst="roundRect">
            <a:avLst>
              <a:gd name="adj" fmla="val 50000"/>
            </a:avLst>
          </a:prstGeom>
          <a:solidFill>
            <a:srgbClr val="FFFFFF"/>
          </a:solidFill>
          <a:ln w="12700">
            <a:solidFill>
              <a:srgbClr val="D6D8E2"/>
            </a:solidFill>
            <a:prstDash val="solid"/>
          </a:ln>
        </p:spPr>
      </p:sp>
      <p:sp>
        <p:nvSpPr>
          <p:cNvPr id="33" name="Text 30"/>
          <p:cNvSpPr txBox="1"/>
          <p:nvPr/>
        </p:nvSpPr>
        <p:spPr>
          <a:xfrm>
            <a:off x="3039466" y="6629400"/>
            <a:ext cx="1527048"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Player Movement</a:t>
            </a:r>
            <a:endParaRPr lang="en-US" sz="800" dirty="0"/>
          </a:p>
        </p:txBody>
      </p:sp>
      <p:sp>
        <p:nvSpPr>
          <p:cNvPr id="34" name="Shape 31"/>
          <p:cNvSpPr/>
          <p:nvPr/>
        </p:nvSpPr>
        <p:spPr>
          <a:xfrm>
            <a:off x="4657954" y="6629400"/>
            <a:ext cx="1446581" cy="237744"/>
          </a:xfrm>
          <a:prstGeom prst="roundRect">
            <a:avLst>
              <a:gd name="adj" fmla="val 50000"/>
            </a:avLst>
          </a:prstGeom>
          <a:solidFill>
            <a:srgbClr val="FFFFFF"/>
          </a:solidFill>
          <a:ln w="12700">
            <a:solidFill>
              <a:srgbClr val="D6D8E2"/>
            </a:solidFill>
            <a:prstDash val="solid"/>
          </a:ln>
        </p:spPr>
      </p:sp>
      <p:sp>
        <p:nvSpPr>
          <p:cNvPr id="35" name="Text 32"/>
          <p:cNvSpPr txBox="1"/>
          <p:nvPr/>
        </p:nvSpPr>
        <p:spPr>
          <a:xfrm>
            <a:off x="4657954" y="6629400"/>
            <a:ext cx="1446581"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Vehicle System</a:t>
            </a:r>
            <a:endParaRPr lang="en-US" sz="800" dirty="0"/>
          </a:p>
        </p:txBody>
      </p:sp>
      <p:sp>
        <p:nvSpPr>
          <p:cNvPr id="36" name="Shape 33"/>
          <p:cNvSpPr/>
          <p:nvPr/>
        </p:nvSpPr>
        <p:spPr>
          <a:xfrm>
            <a:off x="6195974" y="6629400"/>
            <a:ext cx="1527048" cy="237744"/>
          </a:xfrm>
          <a:prstGeom prst="roundRect">
            <a:avLst>
              <a:gd name="adj" fmla="val 50000"/>
            </a:avLst>
          </a:prstGeom>
          <a:solidFill>
            <a:srgbClr val="FFFFFF"/>
          </a:solidFill>
          <a:ln w="12700">
            <a:solidFill>
              <a:srgbClr val="D6D8E2"/>
            </a:solidFill>
            <a:prstDash val="solid"/>
          </a:ln>
        </p:spPr>
      </p:sp>
      <p:sp>
        <p:nvSpPr>
          <p:cNvPr id="37" name="Text 34"/>
          <p:cNvSpPr txBox="1"/>
          <p:nvPr/>
        </p:nvSpPr>
        <p:spPr>
          <a:xfrm>
            <a:off x="6195974" y="6629400"/>
            <a:ext cx="1527048"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Vehicle Spawner</a:t>
            </a:r>
            <a:endParaRPr lang="en-US" sz="800" dirty="0"/>
          </a:p>
        </p:txBody>
      </p:sp>
      <p:sp>
        <p:nvSpPr>
          <p:cNvPr id="38" name="Shape 35"/>
          <p:cNvSpPr/>
          <p:nvPr/>
        </p:nvSpPr>
        <p:spPr>
          <a:xfrm>
            <a:off x="777240" y="6958584"/>
            <a:ext cx="2090318" cy="237744"/>
          </a:xfrm>
          <a:prstGeom prst="roundRect">
            <a:avLst>
              <a:gd name="adj" fmla="val 50000"/>
            </a:avLst>
          </a:prstGeom>
          <a:solidFill>
            <a:srgbClr val="FFFFFF"/>
          </a:solidFill>
          <a:ln w="12700">
            <a:solidFill>
              <a:srgbClr val="D6D8E2"/>
            </a:solidFill>
            <a:prstDash val="solid"/>
          </a:ln>
        </p:spPr>
      </p:sp>
      <p:sp>
        <p:nvSpPr>
          <p:cNvPr id="39" name="Text 36"/>
          <p:cNvSpPr txBox="1"/>
          <p:nvPr/>
        </p:nvSpPr>
        <p:spPr>
          <a:xfrm>
            <a:off x="777240" y="6958584"/>
            <a:ext cx="2090318"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Stage 1·2 Level Design</a:t>
            </a:r>
            <a:endParaRPr lang="en-US" sz="800" dirty="0"/>
          </a:p>
        </p:txBody>
      </p:sp>
      <p:sp>
        <p:nvSpPr>
          <p:cNvPr id="40" name="Shape 37"/>
          <p:cNvSpPr/>
          <p:nvPr/>
        </p:nvSpPr>
        <p:spPr>
          <a:xfrm>
            <a:off x="2958998" y="6958584"/>
            <a:ext cx="1124712" cy="237744"/>
          </a:xfrm>
          <a:prstGeom prst="roundRect">
            <a:avLst>
              <a:gd name="adj" fmla="val 50000"/>
            </a:avLst>
          </a:prstGeom>
          <a:solidFill>
            <a:srgbClr val="FFFFFF"/>
          </a:solidFill>
          <a:ln w="12700">
            <a:solidFill>
              <a:srgbClr val="D6D8E2"/>
            </a:solidFill>
            <a:prstDash val="solid"/>
          </a:ln>
        </p:spPr>
      </p:sp>
      <p:sp>
        <p:nvSpPr>
          <p:cNvPr id="41" name="Text 38"/>
          <p:cNvSpPr txBox="1"/>
          <p:nvPr/>
        </p:nvSpPr>
        <p:spPr>
          <a:xfrm>
            <a:off x="2958998" y="6958584"/>
            <a:ext cx="1124712"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In-game UI</a:t>
            </a:r>
            <a:endParaRPr lang="en-US" sz="800" dirty="0"/>
          </a:p>
        </p:txBody>
      </p:sp>
      <p:sp>
        <p:nvSpPr>
          <p:cNvPr id="42" name="Text 39"/>
          <p:cNvSpPr txBox="1"/>
          <p:nvPr/>
        </p:nvSpPr>
        <p:spPr>
          <a:xfrm>
            <a:off x="8321040" y="6391656"/>
            <a:ext cx="1828800" cy="182880"/>
          </a:xfrm>
          <a:prstGeom prst="rect">
            <a:avLst/>
          </a:prstGeom>
          <a:noFill/>
          <a:ln/>
        </p:spPr>
        <p:txBody>
          <a:bodyPr wrap="square" lIns="0" tIns="0" rIns="0" bIns="0" rtlCol="0" anchor="ctr"/>
          <a:lstStyle/>
          <a:p>
            <a:pPr indent="0" marL="0">
              <a:buNone/>
            </a:pPr>
            <a:r>
              <a:rPr lang="en-US" sz="900" b="1" spc="100" kern="0" dirty="0">
                <a:solidFill>
                  <a:srgbClr val="121428"/>
                </a:solidFill>
              </a:rPr>
              <a:t>TECH</a:t>
            </a:r>
            <a:endParaRPr lang="en-US" sz="900" dirty="0"/>
          </a:p>
        </p:txBody>
      </p:sp>
      <p:sp>
        <p:nvSpPr>
          <p:cNvPr id="43" name="Shape 40"/>
          <p:cNvSpPr/>
          <p:nvPr/>
        </p:nvSpPr>
        <p:spPr>
          <a:xfrm>
            <a:off x="8321040" y="6629400"/>
            <a:ext cx="722376" cy="237744"/>
          </a:xfrm>
          <a:prstGeom prst="roundRect">
            <a:avLst>
              <a:gd name="adj" fmla="val 50000"/>
            </a:avLst>
          </a:prstGeom>
          <a:solidFill>
            <a:srgbClr val="FFFFFF"/>
          </a:solidFill>
          <a:ln w="12700">
            <a:solidFill>
              <a:srgbClr val="D6D8E2"/>
            </a:solidFill>
            <a:prstDash val="solid"/>
          </a:ln>
        </p:spPr>
      </p:sp>
      <p:sp>
        <p:nvSpPr>
          <p:cNvPr id="44" name="Text 41"/>
          <p:cNvSpPr txBox="1"/>
          <p:nvPr/>
        </p:nvSpPr>
        <p:spPr>
          <a:xfrm>
            <a:off x="8321040" y="6629400"/>
            <a:ext cx="722376"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Unity</a:t>
            </a:r>
            <a:endParaRPr lang="en-US" sz="800" dirty="0"/>
          </a:p>
        </p:txBody>
      </p:sp>
      <p:sp>
        <p:nvSpPr>
          <p:cNvPr id="45" name="Shape 42"/>
          <p:cNvSpPr/>
          <p:nvPr/>
        </p:nvSpPr>
        <p:spPr>
          <a:xfrm>
            <a:off x="9134856" y="6629400"/>
            <a:ext cx="480974" cy="237744"/>
          </a:xfrm>
          <a:prstGeom prst="roundRect">
            <a:avLst>
              <a:gd name="adj" fmla="val 50000"/>
            </a:avLst>
          </a:prstGeom>
          <a:solidFill>
            <a:srgbClr val="FFFFFF"/>
          </a:solidFill>
          <a:ln w="12700">
            <a:solidFill>
              <a:srgbClr val="D6D8E2"/>
            </a:solidFill>
            <a:prstDash val="solid"/>
          </a:ln>
        </p:spPr>
      </p:sp>
      <p:sp>
        <p:nvSpPr>
          <p:cNvPr id="46" name="Text 43"/>
          <p:cNvSpPr txBox="1"/>
          <p:nvPr/>
        </p:nvSpPr>
        <p:spPr>
          <a:xfrm>
            <a:off x="9134856" y="6629400"/>
            <a:ext cx="480974"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C#</a:t>
            </a:r>
            <a:endParaRPr lang="en-US" sz="800" dirty="0"/>
          </a:p>
        </p:txBody>
      </p:sp>
      <p:sp>
        <p:nvSpPr>
          <p:cNvPr id="47" name="Shape 44"/>
          <p:cNvSpPr/>
          <p:nvPr/>
        </p:nvSpPr>
        <p:spPr>
          <a:xfrm>
            <a:off x="9707270" y="6629400"/>
            <a:ext cx="1124712" cy="237744"/>
          </a:xfrm>
          <a:prstGeom prst="roundRect">
            <a:avLst>
              <a:gd name="adj" fmla="val 50000"/>
            </a:avLst>
          </a:prstGeom>
          <a:solidFill>
            <a:srgbClr val="FFFFFF"/>
          </a:solidFill>
          <a:ln w="12700">
            <a:solidFill>
              <a:srgbClr val="D6D8E2"/>
            </a:solidFill>
            <a:prstDash val="solid"/>
          </a:ln>
        </p:spPr>
      </p:sp>
      <p:sp>
        <p:nvSpPr>
          <p:cNvPr id="48" name="Text 45"/>
          <p:cNvSpPr txBox="1"/>
          <p:nvPr/>
        </p:nvSpPr>
        <p:spPr>
          <a:xfrm>
            <a:off x="9707270" y="6629400"/>
            <a:ext cx="1124712"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Git/GitHub</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828800" cy="502920"/>
          </a:xfrm>
          <a:prstGeom prst="rect">
            <a:avLst/>
          </a:prstGeom>
          <a:noFill/>
          <a:ln/>
        </p:spPr>
        <p:txBody>
          <a:bodyPr wrap="square" lIns="0" tIns="0" rIns="0" bIns="0" rtlCol="0" anchor="ctr"/>
          <a:lstStyle/>
          <a:p>
            <a:pPr indent="0" marL="0">
              <a:buNone/>
            </a:pPr>
            <a:r>
              <a:rPr lang="en-US" sz="1200" b="1" dirty="0">
                <a:solidFill>
                  <a:srgbClr val="121428"/>
                </a:solidFill>
                <a:latin typeface="Malgun Gothic" pitchFamily="34" charset="0"/>
                <a:ea typeface="Malgun Gothic" pitchFamily="34" charset="-122"/>
                <a:cs typeface="Malgun Gothic" pitchFamily="34" charset="-120"/>
              </a:rPr>
              <a:t>VEHICLE NAV</a:t>
            </a:r>
            <a:endParaRPr lang="en-US" sz="1200" dirty="0"/>
          </a:p>
        </p:txBody>
      </p:sp>
      <p:sp>
        <p:nvSpPr>
          <p:cNvPr id="3" name="Text 1"/>
          <p:cNvSpPr txBox="1"/>
          <p:nvPr/>
        </p:nvSpPr>
        <p:spPr>
          <a:xfrm>
            <a:off x="2468880" y="384048"/>
            <a:ext cx="9144000" cy="502920"/>
          </a:xfrm>
          <a:prstGeom prst="rect">
            <a:avLst/>
          </a:prstGeom>
          <a:noFill/>
          <a:ln/>
        </p:spPr>
        <p:txBody>
          <a:bodyPr wrap="square" lIns="0" tIns="0" rIns="0" bIns="0" rtlCol="0" anchor="ctr"/>
          <a:lstStyle/>
          <a:p>
            <a:pPr indent="0" marL="0">
              <a:buNone/>
            </a:pPr>
            <a:r>
              <a:rPr lang="en-US" sz="1600" b="1" dirty="0">
                <a:solidFill>
                  <a:srgbClr val="121428"/>
                </a:solidFill>
                <a:latin typeface="Malgun Gothic" pitchFamily="34" charset="0"/>
                <a:ea typeface="Malgun Gothic" pitchFamily="34" charset="-122"/>
                <a:cs typeface="Malgun Gothic" pitchFamily="34" charset="-120"/>
              </a:rPr>
              <a:t>Waypoint 주요 오류 수정</a:t>
            </a:r>
            <a:endParaRPr lang="en-US" sz="1600" dirty="0"/>
          </a:p>
        </p:txBody>
      </p:sp>
      <p:sp>
        <p:nvSpPr>
          <p:cNvPr id="4" name="Text 2"/>
          <p:cNvSpPr txBox="1"/>
          <p:nvPr/>
        </p:nvSpPr>
        <p:spPr>
          <a:xfrm>
            <a:off x="548640" y="1143000"/>
            <a:ext cx="5486400" cy="228600"/>
          </a:xfrm>
          <a:prstGeom prst="rect">
            <a:avLst/>
          </a:prstGeom>
          <a:noFill/>
          <a:ln/>
        </p:spPr>
        <p:txBody>
          <a:bodyPr wrap="square" lIns="0" tIns="0" rIns="0" bIns="0" rtlCol="0" anchor="ctr"/>
          <a:lstStyle/>
          <a:p>
            <a:pPr indent="0" marL="0">
              <a:buNone/>
            </a:pPr>
            <a:r>
              <a:rPr lang="en-US" sz="1000" b="1" dirty="0">
                <a:solidFill>
                  <a:srgbClr val="3355CC"/>
                </a:solidFill>
                <a:latin typeface="Malgun Gothic" pitchFamily="34" charset="0"/>
                <a:ea typeface="Malgun Gothic" pitchFamily="34" charset="-122"/>
                <a:cs typeface="Malgun Gothic" pitchFamily="34" charset="-120"/>
              </a:rPr>
              <a:t>MAIN CASE — LOOK-AHEAD STEERING</a:t>
            </a:r>
            <a:endParaRPr lang="en-US" sz="1000" dirty="0"/>
          </a:p>
        </p:txBody>
      </p:sp>
      <p:sp>
        <p:nvSpPr>
          <p:cNvPr id="5" name="Text 3"/>
          <p:cNvSpPr txBox="1"/>
          <p:nvPr/>
        </p:nvSpPr>
        <p:spPr>
          <a:xfrm>
            <a:off x="548640" y="1417320"/>
            <a:ext cx="11109960" cy="502920"/>
          </a:xfrm>
          <a:prstGeom prst="rect">
            <a:avLst/>
          </a:prstGeom>
          <a:noFill/>
          <a:ln/>
        </p:spPr>
        <p:txBody>
          <a:bodyPr wrap="square" lIns="0" tIns="0" rIns="0" bIns="0" rtlCol="0" anchor="ctr"/>
          <a:lstStyle/>
          <a:p>
            <a:pPr indent="0" marL="0">
              <a:lnSpc>
                <a:spcPct val="130000"/>
              </a:lnSpc>
              <a:buNone/>
            </a:pPr>
            <a:r>
              <a:rPr lang="en-US" sz="1050" dirty="0">
                <a:solidFill>
                  <a:srgbClr val="444858"/>
                </a:solidFill>
                <a:latin typeface="Malgun Gothic" pitchFamily="34" charset="0"/>
                <a:ea typeface="Malgun Gothic" pitchFamily="34" charset="-122"/>
                <a:cs typeface="Malgun Gothic" pitchFamily="34" charset="-120"/>
              </a:rPr>
              <a:t>차량이 현재 목표 waypoint만 바라보고 이동할 경우, waypoint가 전환되는 순간 목표 방향이 불연속적으로 꺾여 급커브에서 부자연스러운 회전이 발생하고 차량끼리 충돌하는 경우가 있었습니다.</a:t>
            </a:r>
            <a:endParaRPr lang="en-US" sz="1050" dirty="0"/>
          </a:p>
        </p:txBody>
      </p:sp>
      <p:sp>
        <p:nvSpPr>
          <p:cNvPr id="6" name="Shape 4"/>
          <p:cNvSpPr/>
          <p:nvPr/>
        </p:nvSpPr>
        <p:spPr>
          <a:xfrm>
            <a:off x="548640" y="2194560"/>
            <a:ext cx="4754880" cy="3200400"/>
          </a:xfrm>
          <a:prstGeom prst="roundRect">
            <a:avLst>
              <a:gd name="adj" fmla="val 2286"/>
            </a:avLst>
          </a:prstGeom>
          <a:solidFill>
            <a:srgbClr val="13151F"/>
          </a:solidFill>
          <a:ln/>
        </p:spPr>
      </p:sp>
      <p:sp>
        <p:nvSpPr>
          <p:cNvPr id="7" name="Shape 5"/>
          <p:cNvSpPr/>
          <p:nvPr/>
        </p:nvSpPr>
        <p:spPr>
          <a:xfrm>
            <a:off x="685800" y="2331720"/>
            <a:ext cx="4480560" cy="566928"/>
          </a:xfrm>
          <a:prstGeom prst="roundRect">
            <a:avLst>
              <a:gd name="adj" fmla="val 8065"/>
            </a:avLst>
          </a:prstGeom>
          <a:solidFill>
            <a:srgbClr val="181B27"/>
          </a:solidFill>
          <a:ln/>
        </p:spPr>
      </p:sp>
      <p:sp>
        <p:nvSpPr>
          <p:cNvPr id="8" name="Text 6"/>
          <p:cNvSpPr txBox="1"/>
          <p:nvPr/>
        </p:nvSpPr>
        <p:spPr>
          <a:xfrm>
            <a:off x="685800" y="2331720"/>
            <a:ext cx="4480560" cy="566928"/>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algun Gothic" pitchFamily="34" charset="0"/>
                <a:ea typeface="Malgun Gothic" pitchFamily="34" charset="-122"/>
                <a:cs typeface="Malgun Gothic" pitchFamily="34" charset="-120"/>
              </a:rPr>
              <a:t>현재 Waypoint까지 남은 거리 계산</a:t>
            </a:r>
            <a:endParaRPr lang="en-US" sz="1050" dirty="0"/>
          </a:p>
          <a:p>
            <a:pPr algn="ctr" indent="0" marL="0">
              <a:lnSpc>
                <a:spcPct val="115000"/>
              </a:lnSpc>
              <a:buNone/>
            </a:pPr>
            <a:r>
              <a:rPr lang="en-US" sz="800" dirty="0">
                <a:solidFill>
                  <a:srgbClr val="9AA0C0"/>
                </a:solidFill>
                <a:latin typeface="Malgun Gothic" pitchFamily="34" charset="0"/>
                <a:ea typeface="Malgun Gothic" pitchFamily="34" charset="-122"/>
                <a:cs typeface="Malgun Gothic" pitchFamily="34" charset="-120"/>
              </a:rPr>
              <a:t>distanceToCurrent vs curveStartDistance(2f)</a:t>
            </a:r>
            <a:endParaRPr lang="en-US" sz="1050" dirty="0"/>
          </a:p>
        </p:txBody>
      </p:sp>
      <p:sp>
        <p:nvSpPr>
          <p:cNvPr id="9" name="Text 7"/>
          <p:cNvSpPr txBox="1"/>
          <p:nvPr/>
        </p:nvSpPr>
        <p:spPr>
          <a:xfrm>
            <a:off x="685800" y="2898648"/>
            <a:ext cx="4480560" cy="21945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0" name="Shape 8"/>
          <p:cNvSpPr/>
          <p:nvPr/>
        </p:nvSpPr>
        <p:spPr>
          <a:xfrm>
            <a:off x="685800" y="3118104"/>
            <a:ext cx="4480560" cy="566928"/>
          </a:xfrm>
          <a:prstGeom prst="roundRect">
            <a:avLst>
              <a:gd name="adj" fmla="val 8065"/>
            </a:avLst>
          </a:prstGeom>
          <a:solidFill>
            <a:srgbClr val="181B27"/>
          </a:solidFill>
          <a:ln/>
        </p:spPr>
      </p:sp>
      <p:sp>
        <p:nvSpPr>
          <p:cNvPr id="11" name="Text 9"/>
          <p:cNvSpPr txBox="1"/>
          <p:nvPr/>
        </p:nvSpPr>
        <p:spPr>
          <a:xfrm>
            <a:off x="685800" y="3118104"/>
            <a:ext cx="4480560" cy="566928"/>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algun Gothic" pitchFamily="34" charset="0"/>
                <a:ea typeface="Malgun Gothic" pitchFamily="34" charset="-122"/>
                <a:cs typeface="Malgun Gothic" pitchFamily="34" charset="-120"/>
              </a:rPr>
              <a:t>Look-Ahead Target 계산</a:t>
            </a:r>
            <a:endParaRPr lang="en-US" sz="1050" dirty="0"/>
          </a:p>
          <a:p>
            <a:pPr algn="ctr" indent="0" marL="0">
              <a:lnSpc>
                <a:spcPct val="115000"/>
              </a:lnSpc>
              <a:buNone/>
            </a:pPr>
            <a:r>
              <a:rPr lang="en-US" sz="800" dirty="0">
                <a:solidFill>
                  <a:srgbClr val="9AA0C0"/>
                </a:solidFill>
                <a:latin typeface="Malgun Gothic" pitchFamily="34" charset="0"/>
                <a:ea typeface="Malgun Gothic" pitchFamily="34" charset="-122"/>
                <a:cs typeface="Malgun Gothic" pitchFamily="34" charset="-120"/>
              </a:rPr>
              <a:t>Lerp(curveLookAhead 0.3f, 0, normalizedDistance)</a:t>
            </a:r>
            <a:endParaRPr lang="en-US" sz="1050" dirty="0"/>
          </a:p>
        </p:txBody>
      </p:sp>
      <p:sp>
        <p:nvSpPr>
          <p:cNvPr id="12" name="Text 10"/>
          <p:cNvSpPr txBox="1"/>
          <p:nvPr/>
        </p:nvSpPr>
        <p:spPr>
          <a:xfrm>
            <a:off x="685800" y="3685032"/>
            <a:ext cx="4480560" cy="21945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3" name="Shape 11"/>
          <p:cNvSpPr/>
          <p:nvPr/>
        </p:nvSpPr>
        <p:spPr>
          <a:xfrm>
            <a:off x="685800" y="3904488"/>
            <a:ext cx="4480560" cy="566928"/>
          </a:xfrm>
          <a:prstGeom prst="roundRect">
            <a:avLst>
              <a:gd name="adj" fmla="val 8065"/>
            </a:avLst>
          </a:prstGeom>
          <a:solidFill>
            <a:srgbClr val="181B27"/>
          </a:solidFill>
          <a:ln/>
        </p:spPr>
      </p:sp>
      <p:sp>
        <p:nvSpPr>
          <p:cNvPr id="14" name="Text 12"/>
          <p:cNvSpPr txBox="1"/>
          <p:nvPr/>
        </p:nvSpPr>
        <p:spPr>
          <a:xfrm>
            <a:off x="685800" y="3904488"/>
            <a:ext cx="4480560" cy="566928"/>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algun Gothic" pitchFamily="34" charset="0"/>
                <a:ea typeface="Malgun Gothic" pitchFamily="34" charset="-122"/>
                <a:cs typeface="Malgun Gothic" pitchFamily="34" charset="-120"/>
              </a:rPr>
              <a:t>진행 방향 검증</a:t>
            </a:r>
            <a:endParaRPr lang="en-US" sz="1050" dirty="0"/>
          </a:p>
          <a:p>
            <a:pPr algn="ctr" indent="0" marL="0">
              <a:lnSpc>
                <a:spcPct val="115000"/>
              </a:lnSpc>
              <a:buNone/>
            </a:pPr>
            <a:r>
              <a:rPr lang="en-US" sz="800" dirty="0">
                <a:solidFill>
                  <a:srgbClr val="9AA0C0"/>
                </a:solidFill>
                <a:latin typeface="Malgun Gothic" pitchFamily="34" charset="0"/>
                <a:ea typeface="Malgun Gothic" pitchFamily="34" charset="-122"/>
                <a:cs typeface="Malgun Gothic" pitchFamily="34" charset="-120"/>
              </a:rPr>
              <a:t>Vector3.Dot(vehicleForward, target) &gt; 0.3f</a:t>
            </a:r>
            <a:endParaRPr lang="en-US" sz="1050" dirty="0"/>
          </a:p>
        </p:txBody>
      </p:sp>
      <p:sp>
        <p:nvSpPr>
          <p:cNvPr id="15" name="Text 13"/>
          <p:cNvSpPr txBox="1"/>
          <p:nvPr/>
        </p:nvSpPr>
        <p:spPr>
          <a:xfrm>
            <a:off x="685800" y="4471416"/>
            <a:ext cx="4480560" cy="21945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6" name="Shape 14"/>
          <p:cNvSpPr/>
          <p:nvPr/>
        </p:nvSpPr>
        <p:spPr>
          <a:xfrm>
            <a:off x="685800" y="4690872"/>
            <a:ext cx="4480560" cy="566928"/>
          </a:xfrm>
          <a:prstGeom prst="roundRect">
            <a:avLst>
              <a:gd name="adj" fmla="val 8065"/>
            </a:avLst>
          </a:prstGeom>
          <a:solidFill>
            <a:srgbClr val="26317A"/>
          </a:solidFill>
          <a:ln/>
        </p:spPr>
      </p:sp>
      <p:sp>
        <p:nvSpPr>
          <p:cNvPr id="17" name="Text 15"/>
          <p:cNvSpPr txBox="1"/>
          <p:nvPr/>
        </p:nvSpPr>
        <p:spPr>
          <a:xfrm>
            <a:off x="685800" y="4690872"/>
            <a:ext cx="4480560" cy="566928"/>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algun Gothic" pitchFamily="34" charset="0"/>
                <a:ea typeface="Malgun Gothic" pitchFamily="34" charset="-122"/>
                <a:cs typeface="Malgun Gothic" pitchFamily="34" charset="-120"/>
              </a:rPr>
              <a:t>구간 각도 기반 회전 응답 조정</a:t>
            </a:r>
            <a:endParaRPr lang="en-US" sz="1050" dirty="0"/>
          </a:p>
          <a:p>
            <a:pPr algn="ctr" indent="0" marL="0">
              <a:lnSpc>
                <a:spcPct val="115000"/>
              </a:lnSpc>
              <a:buNone/>
            </a:pPr>
            <a:r>
              <a:rPr lang="en-US" sz="800" dirty="0">
                <a:solidFill>
                  <a:srgbClr val="9AA0C0"/>
                </a:solidFill>
                <a:latin typeface="Malgun Gothic" pitchFamily="34" charset="0"/>
                <a:ea typeface="Malgun Gothic" pitchFamily="34" charset="-122"/>
                <a:cs typeface="Malgun Gothic" pitchFamily="34" charset="-120"/>
              </a:rPr>
              <a:t>각도 45°↑ → rotationSpeed × sharpTurnMultiplier(2f)</a:t>
            </a:r>
            <a:endParaRPr lang="en-US" sz="1050" dirty="0"/>
          </a:p>
        </p:txBody>
      </p:sp>
      <p:sp>
        <p:nvSpPr>
          <p:cNvPr id="18" name="Shape 16"/>
          <p:cNvSpPr/>
          <p:nvPr/>
        </p:nvSpPr>
        <p:spPr>
          <a:xfrm>
            <a:off x="5532120" y="2331720"/>
            <a:ext cx="6126480" cy="1737360"/>
          </a:xfrm>
          <a:prstGeom prst="roundRect">
            <a:avLst>
              <a:gd name="adj" fmla="val 3158"/>
            </a:avLst>
          </a:prstGeom>
          <a:solidFill>
            <a:srgbClr val="13151F"/>
          </a:solidFill>
          <a:ln/>
        </p:spPr>
      </p:sp>
      <p:sp>
        <p:nvSpPr>
          <p:cNvPr id="19" name="Shape 17"/>
          <p:cNvSpPr/>
          <p:nvPr/>
        </p:nvSpPr>
        <p:spPr>
          <a:xfrm>
            <a:off x="5532120" y="2331720"/>
            <a:ext cx="6126480" cy="274320"/>
          </a:xfrm>
          <a:prstGeom prst="roundRect">
            <a:avLst>
              <a:gd name="adj" fmla="val 20000"/>
            </a:avLst>
          </a:prstGeom>
          <a:solidFill>
            <a:srgbClr val="0D0E16"/>
          </a:solidFill>
          <a:ln/>
        </p:spPr>
      </p:sp>
      <p:sp>
        <p:nvSpPr>
          <p:cNvPr id="20" name="Shape 18"/>
          <p:cNvSpPr/>
          <p:nvPr/>
        </p:nvSpPr>
        <p:spPr>
          <a:xfrm>
            <a:off x="5532120" y="2468880"/>
            <a:ext cx="6126480" cy="137160"/>
          </a:xfrm>
          <a:prstGeom prst="rect">
            <a:avLst/>
          </a:prstGeom>
          <a:solidFill>
            <a:srgbClr val="0D0E16"/>
          </a:solidFill>
          <a:ln/>
        </p:spPr>
      </p:sp>
      <p:sp>
        <p:nvSpPr>
          <p:cNvPr id="21" name="Text 19"/>
          <p:cNvSpPr txBox="1"/>
          <p:nvPr/>
        </p:nvSpPr>
        <p:spPr>
          <a:xfrm>
            <a:off x="5641848" y="2331720"/>
            <a:ext cx="5907024"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VehiclePlatform.cs — GetCurvedTargetPosition()</a:t>
            </a:r>
            <a:endParaRPr lang="en-US" sz="850" dirty="0"/>
          </a:p>
        </p:txBody>
      </p:sp>
      <p:sp>
        <p:nvSpPr>
          <p:cNvPr id="22" name="Text 20"/>
          <p:cNvSpPr txBox="1"/>
          <p:nvPr/>
        </p:nvSpPr>
        <p:spPr>
          <a:xfrm>
            <a:off x="5660136" y="2679192"/>
            <a:ext cx="5870448" cy="1316736"/>
          </a:xfrm>
          <a:prstGeom prst="rect">
            <a:avLst/>
          </a:prstGeom>
          <a:noFill/>
          <a:ln/>
        </p:spPr>
        <p:txBody>
          <a:bodyPr wrap="square" lIns="0" tIns="0" rIns="0" bIns="0" rtlCol="0" anchor="t"/>
          <a:lstStyle/>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float</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normalizedDistance =</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Mathf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.Clamp01(distanceToCurrent / curveStartDistance);</a:t>
            </a:r>
            <a:endParaRPr lang="en-US" sz="850" dirty="0"/>
          </a:p>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float</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t =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Mathf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.Lerp(curveLookAhead, </a:t>
            </a:r>
            <a:pPr indent="0" marL="0">
              <a:lnSpc>
                <a:spcPct val="118000"/>
              </a:lnSpc>
              <a:buNone/>
            </a:pPr>
            <a:r>
              <a:rPr lang="en-US" sz="850" dirty="0">
                <a:solidFill>
                  <a:srgbClr val="B5CEA8"/>
                </a:solidFill>
                <a:latin typeface="Consolas" pitchFamily="34" charset="0"/>
                <a:ea typeface="Consolas" pitchFamily="34" charset="-122"/>
                <a:cs typeface="Consolas" pitchFamily="34" charset="-120"/>
              </a:rPr>
              <a:t>0f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normalizedDistance);</a:t>
            </a:r>
            <a:endParaRPr lang="en-US" sz="850" dirty="0"/>
          </a:p>
          <a:p>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curvedTarget =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.Lerp(</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currentWaypoint.position, nextWaypoint.position, t);</a:t>
            </a:r>
            <a:endParaRPr lang="en-US" sz="850" dirty="0"/>
          </a:p>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if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.Dot(vehicleForward, toCurvedTarget) &gt; </a:t>
            </a:r>
            <a:pPr indent="0" marL="0">
              <a:lnSpc>
                <a:spcPct val="118000"/>
              </a:lnSpc>
              <a:buNone/>
            </a:pPr>
            <a:r>
              <a:rPr lang="en-US" sz="850" dirty="0">
                <a:solidFill>
                  <a:srgbClr val="B5CEA8"/>
                </a:solidFill>
                <a:latin typeface="Consolas" pitchFamily="34" charset="0"/>
                <a:ea typeface="Consolas" pitchFamily="34" charset="-122"/>
                <a:cs typeface="Consolas" pitchFamily="34" charset="-120"/>
              </a:rPr>
              <a:t>0.3f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return</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curvedTarget;</a:t>
            </a:r>
            <a:endParaRPr lang="en-US" sz="850" dirty="0"/>
          </a:p>
        </p:txBody>
      </p:sp>
      <p:sp>
        <p:nvSpPr>
          <p:cNvPr id="23" name="Shape 21"/>
          <p:cNvSpPr/>
          <p:nvPr/>
        </p:nvSpPr>
        <p:spPr>
          <a:xfrm>
            <a:off x="5532120" y="4206240"/>
            <a:ext cx="6126480" cy="1737360"/>
          </a:xfrm>
          <a:prstGeom prst="roundRect">
            <a:avLst>
              <a:gd name="adj" fmla="val 3158"/>
            </a:avLst>
          </a:prstGeom>
          <a:solidFill>
            <a:srgbClr val="13151F"/>
          </a:solidFill>
          <a:ln/>
        </p:spPr>
      </p:sp>
      <p:sp>
        <p:nvSpPr>
          <p:cNvPr id="24" name="Shape 22"/>
          <p:cNvSpPr/>
          <p:nvPr/>
        </p:nvSpPr>
        <p:spPr>
          <a:xfrm>
            <a:off x="5532120" y="4206240"/>
            <a:ext cx="6126480" cy="274320"/>
          </a:xfrm>
          <a:prstGeom prst="roundRect">
            <a:avLst>
              <a:gd name="adj" fmla="val 20000"/>
            </a:avLst>
          </a:prstGeom>
          <a:solidFill>
            <a:srgbClr val="0D0E16"/>
          </a:solidFill>
          <a:ln/>
        </p:spPr>
      </p:sp>
      <p:sp>
        <p:nvSpPr>
          <p:cNvPr id="25" name="Shape 23"/>
          <p:cNvSpPr/>
          <p:nvPr/>
        </p:nvSpPr>
        <p:spPr>
          <a:xfrm>
            <a:off x="5532120" y="4343400"/>
            <a:ext cx="6126480" cy="137160"/>
          </a:xfrm>
          <a:prstGeom prst="rect">
            <a:avLst/>
          </a:prstGeom>
          <a:solidFill>
            <a:srgbClr val="0D0E16"/>
          </a:solidFill>
          <a:ln/>
        </p:spPr>
      </p:sp>
      <p:sp>
        <p:nvSpPr>
          <p:cNvPr id="26" name="Text 24"/>
          <p:cNvSpPr txBox="1"/>
          <p:nvPr/>
        </p:nvSpPr>
        <p:spPr>
          <a:xfrm>
            <a:off x="5641848" y="4206240"/>
            <a:ext cx="5907024"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VehiclePlatform.cs — FixedUpdate() 회전 응답</a:t>
            </a:r>
            <a:endParaRPr lang="en-US" sz="850" dirty="0"/>
          </a:p>
        </p:txBody>
      </p:sp>
      <p:sp>
        <p:nvSpPr>
          <p:cNvPr id="27" name="Text 25"/>
          <p:cNvSpPr txBox="1"/>
          <p:nvPr/>
        </p:nvSpPr>
        <p:spPr>
          <a:xfrm>
            <a:off x="5660136" y="4553712"/>
            <a:ext cx="5870448" cy="1316736"/>
          </a:xfrm>
          <a:prstGeom prst="rect">
            <a:avLst/>
          </a:prstGeom>
          <a:noFill/>
          <a:ln/>
        </p:spPr>
        <p:txBody>
          <a:bodyPr wrap="square" lIns="0" tIns="0" rIns="0" bIns="0" rtlCol="0" anchor="t"/>
          <a:lstStyle/>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float</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angle =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.Angle(currentDir, nextDir);</a:t>
            </a:r>
            <a:endParaRPr lang="en-US" sz="850" dirty="0"/>
          </a:p>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if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(angle &gt; </a:t>
            </a:r>
            <a:pPr indent="0" marL="0">
              <a:lnSpc>
                <a:spcPct val="118000"/>
              </a:lnSpc>
              <a:buNone/>
            </a:pPr>
            <a:r>
              <a:rPr lang="en-US" sz="850" dirty="0">
                <a:solidFill>
                  <a:srgbClr val="B5CEA8"/>
                </a:solidFill>
                <a:latin typeface="Consolas" pitchFamily="34" charset="0"/>
                <a:ea typeface="Consolas" pitchFamily="34" charset="-122"/>
                <a:cs typeface="Consolas" pitchFamily="34" charset="-120"/>
              </a:rPr>
              <a:t>45f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currentRotSpeed = rotationSpeed * sharpTurnMultiplier;</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rigid.rotation =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Quaternion</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.Slerp(</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rigid.rotation, targetRotation,</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Time</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.fixedDeltaTime * currentRotSpeed);</a:t>
            </a:r>
            <a:endParaRPr lang="en-US" sz="850" dirty="0"/>
          </a:p>
        </p:txBody>
      </p:sp>
      <p:sp>
        <p:nvSpPr>
          <p:cNvPr id="28" name="Shape 26"/>
          <p:cNvSpPr/>
          <p:nvPr/>
        </p:nvSpPr>
        <p:spPr>
          <a:xfrm>
            <a:off x="548640" y="6172200"/>
            <a:ext cx="32004" cy="502920"/>
          </a:xfrm>
          <a:prstGeom prst="rect">
            <a:avLst/>
          </a:prstGeom>
          <a:solidFill>
            <a:srgbClr val="3355CC"/>
          </a:solidFill>
          <a:ln/>
        </p:spPr>
      </p:sp>
      <p:sp>
        <p:nvSpPr>
          <p:cNvPr id="29" name="Text 27"/>
          <p:cNvSpPr txBox="1"/>
          <p:nvPr/>
        </p:nvSpPr>
        <p:spPr>
          <a:xfrm>
            <a:off x="685800" y="6126480"/>
            <a:ext cx="10972800" cy="594360"/>
          </a:xfrm>
          <a:prstGeom prst="rect">
            <a:avLst/>
          </a:prstGeom>
          <a:noFill/>
          <a:ln/>
        </p:spPr>
        <p:txBody>
          <a:bodyPr wrap="square" lIns="0" tIns="0" rIns="0" bIns="0" rtlCol="0" anchor="t"/>
          <a:lstStyle/>
          <a:p>
            <a:pPr indent="0" marL="0">
              <a:lnSpc>
                <a:spcPct val="120000"/>
              </a:lnSpc>
              <a:buNone/>
            </a:pPr>
            <a:r>
              <a:rPr lang="en-US" sz="1050" dirty="0">
                <a:solidFill>
                  <a:srgbClr val="121428"/>
                </a:solidFill>
                <a:latin typeface="Malgun Gothic" pitchFamily="34" charset="0"/>
                <a:ea typeface="Malgun Gothic" pitchFamily="34" charset="-122"/>
                <a:cs typeface="Malgun Gothic" pitchFamily="34" charset="-120"/>
              </a:rPr>
              <a:t>단순 Waypoint 추적은 코너 진입 시점의 방향 전환을 실패 조건으로 만들었습니다. 남은 거리와 구간 각도를 계산에 포함시켜, 커브의 크기에 따라 회전 응답이 달라지도록 구성했습니다.</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2103120" cy="502920"/>
          </a:xfrm>
          <a:prstGeom prst="rect">
            <a:avLst/>
          </a:prstGeom>
          <a:noFill/>
          <a:ln/>
        </p:spPr>
        <p:txBody>
          <a:bodyPr wrap="square" lIns="0" tIns="0" rIns="0" bIns="0" rtlCol="0" anchor="ctr"/>
          <a:lstStyle/>
          <a:p>
            <a:pPr indent="0" marL="0">
              <a:buNone/>
            </a:pPr>
            <a:r>
              <a:rPr lang="en-US" sz="1200" b="1" dirty="0">
                <a:solidFill>
                  <a:srgbClr val="121428"/>
                </a:solidFill>
                <a:latin typeface="Malgun Gothic" pitchFamily="34" charset="0"/>
                <a:ea typeface="Malgun Gothic" pitchFamily="34" charset="-122"/>
                <a:cs typeface="Malgun Gothic" pitchFamily="34" charset="-120"/>
              </a:rPr>
              <a:t>TRAFFIC SYSTEM</a:t>
            </a:r>
            <a:endParaRPr lang="en-US" sz="1200" dirty="0"/>
          </a:p>
        </p:txBody>
      </p:sp>
      <p:sp>
        <p:nvSpPr>
          <p:cNvPr id="3" name="Text 1"/>
          <p:cNvSpPr txBox="1"/>
          <p:nvPr/>
        </p:nvSpPr>
        <p:spPr>
          <a:xfrm>
            <a:off x="2743200" y="384048"/>
            <a:ext cx="8869680" cy="502920"/>
          </a:xfrm>
          <a:prstGeom prst="rect">
            <a:avLst/>
          </a:prstGeom>
          <a:noFill/>
          <a:ln/>
        </p:spPr>
        <p:txBody>
          <a:bodyPr wrap="square" lIns="0" tIns="0" rIns="0" bIns="0" rtlCol="0" anchor="ctr"/>
          <a:lstStyle/>
          <a:p>
            <a:pPr indent="0" marL="0">
              <a:buNone/>
            </a:pPr>
            <a:r>
              <a:rPr lang="en-US" sz="1600" b="1" dirty="0">
                <a:solidFill>
                  <a:srgbClr val="121428"/>
                </a:solidFill>
                <a:latin typeface="Malgun Gothic" pitchFamily="34" charset="0"/>
                <a:ea typeface="Malgun Gothic" pitchFamily="34" charset="-122"/>
                <a:cs typeface="Malgun Gothic" pitchFamily="34" charset="-120"/>
              </a:rPr>
              <a:t>물리 엔진 충돌 오류 수정</a:t>
            </a:r>
            <a:endParaRPr lang="en-US" sz="1600" dirty="0"/>
          </a:p>
        </p:txBody>
      </p:sp>
      <p:sp>
        <p:nvSpPr>
          <p:cNvPr id="4" name="Text 2"/>
          <p:cNvSpPr txBox="1"/>
          <p:nvPr/>
        </p:nvSpPr>
        <p:spPr>
          <a:xfrm>
            <a:off x="548640" y="1115568"/>
            <a:ext cx="3931920" cy="228600"/>
          </a:xfrm>
          <a:prstGeom prst="rect">
            <a:avLst/>
          </a:prstGeom>
          <a:noFill/>
          <a:ln/>
        </p:spPr>
        <p:txBody>
          <a:bodyPr wrap="square" lIns="0" tIns="0" rIns="0" bIns="0" rtlCol="0" anchor="ctr"/>
          <a:lstStyle/>
          <a:p>
            <a:pPr indent="0" marL="0">
              <a:buNone/>
            </a:pPr>
            <a:r>
              <a:rPr lang="en-US" sz="950" b="1" dirty="0">
                <a:solidFill>
                  <a:srgbClr val="3355CC"/>
                </a:solidFill>
                <a:latin typeface="Malgun Gothic" pitchFamily="34" charset="0"/>
                <a:ea typeface="Malgun Gothic" pitchFamily="34" charset="-122"/>
                <a:cs typeface="Malgun Gothic" pitchFamily="34" charset="-120"/>
              </a:rPr>
              <a:t>MAIN CASE — PLAYER-VEHICLE PHYSICS</a:t>
            </a:r>
            <a:endParaRPr lang="en-US" sz="950" dirty="0"/>
          </a:p>
        </p:txBody>
      </p:sp>
      <p:sp>
        <p:nvSpPr>
          <p:cNvPr id="5" name="Text 3"/>
          <p:cNvSpPr txBox="1"/>
          <p:nvPr/>
        </p:nvSpPr>
        <p:spPr>
          <a:xfrm>
            <a:off x="548640" y="1417320"/>
            <a:ext cx="6537960" cy="182880"/>
          </a:xfrm>
          <a:prstGeom prst="rect">
            <a:avLst/>
          </a:prstGeom>
          <a:noFill/>
          <a:ln/>
        </p:spPr>
        <p:txBody>
          <a:bodyPr wrap="square" lIns="0" tIns="0" rIns="0" bIns="0" rtlCol="0" anchor="ctr"/>
          <a:lstStyle/>
          <a:p>
            <a:pPr indent="0" marL="0">
              <a:buNone/>
            </a:pPr>
            <a:r>
              <a:rPr lang="en-US" sz="800" b="1" spc="100" kern="0" dirty="0">
                <a:solidFill>
                  <a:srgbClr val="6B7080"/>
                </a:solidFill>
              </a:rPr>
              <a:t>BEFORE</a:t>
            </a:r>
            <a:endParaRPr lang="en-US" sz="800" dirty="0"/>
          </a:p>
        </p:txBody>
      </p:sp>
      <p:sp>
        <p:nvSpPr>
          <p:cNvPr id="6" name="Text 4"/>
          <p:cNvSpPr txBox="1"/>
          <p:nvPr/>
        </p:nvSpPr>
        <p:spPr>
          <a:xfrm>
            <a:off x="548640" y="1609344"/>
            <a:ext cx="6537960" cy="777240"/>
          </a:xfrm>
          <a:prstGeom prst="rect">
            <a:avLst/>
          </a:prstGeom>
          <a:noFill/>
          <a:ln/>
        </p:spPr>
        <p:txBody>
          <a:bodyPr wrap="square" lIns="0" tIns="0" rIns="0" bIns="0" rtlCol="0" anchor="ctr"/>
          <a:lstStyle/>
          <a:p>
            <a:pPr indent="0" marL="0">
              <a:lnSpc>
                <a:spcPct val="128000"/>
              </a:lnSpc>
              <a:buNone/>
            </a:pPr>
            <a:r>
              <a:rPr lang="en-US" sz="930" dirty="0">
                <a:solidFill>
                  <a:srgbClr val="444858"/>
                </a:solidFill>
                <a:latin typeface="Malgun Gothic" pitchFamily="34" charset="0"/>
                <a:ea typeface="Malgun Gothic" pitchFamily="34" charset="-122"/>
                <a:cs typeface="Malgun Gothic" pitchFamily="34" charset="-120"/>
              </a:rPr>
              <a:t>플레이어가 차량에 올라가면 </a:t>
            </a:r>
            <a:pPr indent="0" marL="0">
              <a:lnSpc>
                <a:spcPct val="128000"/>
              </a:lnSpc>
              <a:buNone/>
            </a:pPr>
            <a:r>
              <a:rPr lang="en-US" sz="860" dirty="0">
                <a:solidFill>
                  <a:srgbClr val="1F2A6B"/>
                </a:solidFill>
                <a:latin typeface="Consolas" pitchFamily="34" charset="0"/>
                <a:ea typeface="Consolas" pitchFamily="34" charset="-122"/>
                <a:cs typeface="Consolas" pitchFamily="34" charset="-120"/>
              </a:rPr>
              <a:t>transform.SetParent(vehicle.transform)</a:t>
            </a:r>
            <a:pPr indent="0" marL="0">
              <a:lnSpc>
                <a:spcPct val="128000"/>
              </a:lnSpc>
              <a:buNone/>
            </a:pPr>
            <a:r>
              <a:rPr lang="en-US" sz="930" dirty="0">
                <a:solidFill>
                  <a:srgbClr val="444858"/>
                </a:solidFill>
                <a:latin typeface="Malgun Gothic" pitchFamily="34" charset="0"/>
                <a:ea typeface="Malgun Gothic" pitchFamily="34" charset="-122"/>
                <a:cs typeface="Malgun Gothic" pitchFamily="34" charset="-120"/>
              </a:rPr>
              <a:t> 로 차량의 자식으로 만들었습니다 — Vehicle └ Player Rigidbody. 하지만 차량의 Transform 이동과 Player Rigidbody의 물리 계산이 같은 프레임에 함께 적용되며 충돌과 이동이 불안정해졌습니다.</a:t>
            </a:r>
            <a:endParaRPr lang="en-US" sz="930" dirty="0"/>
          </a:p>
        </p:txBody>
      </p:sp>
      <p:sp>
        <p:nvSpPr>
          <p:cNvPr id="7" name="Text 5"/>
          <p:cNvSpPr txBox="1"/>
          <p:nvPr/>
        </p:nvSpPr>
        <p:spPr>
          <a:xfrm>
            <a:off x="548640" y="2395728"/>
            <a:ext cx="6537960" cy="201168"/>
          </a:xfrm>
          <a:prstGeom prst="rect">
            <a:avLst/>
          </a:prstGeom>
          <a:noFill/>
          <a:ln/>
        </p:spPr>
        <p:txBody>
          <a:bodyPr wrap="square" lIns="0" tIns="0" rIns="0" bIns="0" rtlCol="0" anchor="ctr"/>
          <a:lstStyle/>
          <a:p>
            <a:pPr indent="0" marL="0">
              <a:buNone/>
            </a:pPr>
            <a:r>
              <a:rPr lang="en-US" sz="850" b="1" dirty="0">
                <a:solidFill>
                  <a:srgbClr val="6B7080"/>
                </a:solidFill>
                <a:latin typeface="Malgun Gothic" pitchFamily="34" charset="0"/>
                <a:ea typeface="Malgun Gothic" pitchFamily="34" charset="-122"/>
                <a:cs typeface="Malgun Gothic" pitchFamily="34" charset="-120"/>
              </a:rPr>
              <a:t>AFTER — 부모·자식 관계 제거, 속도를 합산해 매 프레임 보간</a:t>
            </a:r>
            <a:endParaRPr lang="en-US" sz="850" dirty="0"/>
          </a:p>
        </p:txBody>
      </p:sp>
      <p:sp>
        <p:nvSpPr>
          <p:cNvPr id="8" name="Shape 6"/>
          <p:cNvSpPr/>
          <p:nvPr/>
        </p:nvSpPr>
        <p:spPr>
          <a:xfrm>
            <a:off x="502920" y="2532888"/>
            <a:ext cx="2926080" cy="1682496"/>
          </a:xfrm>
          <a:prstGeom prst="roundRect">
            <a:avLst>
              <a:gd name="adj" fmla="val 4348"/>
            </a:avLst>
          </a:prstGeom>
          <a:solidFill>
            <a:srgbClr val="13151F"/>
          </a:solidFill>
          <a:ln/>
        </p:spPr>
      </p:sp>
      <p:sp>
        <p:nvSpPr>
          <p:cNvPr id="9" name="Shape 7"/>
          <p:cNvSpPr/>
          <p:nvPr/>
        </p:nvSpPr>
        <p:spPr>
          <a:xfrm>
            <a:off x="640080" y="2670048"/>
            <a:ext cx="2651760" cy="384048"/>
          </a:xfrm>
          <a:prstGeom prst="roundRect">
            <a:avLst>
              <a:gd name="adj" fmla="val 11905"/>
            </a:avLst>
          </a:prstGeom>
          <a:solidFill>
            <a:srgbClr val="181B27"/>
          </a:solidFill>
          <a:ln/>
        </p:spPr>
      </p:sp>
      <p:sp>
        <p:nvSpPr>
          <p:cNvPr id="10" name="Text 8"/>
          <p:cNvSpPr txBox="1"/>
          <p:nvPr/>
        </p:nvSpPr>
        <p:spPr>
          <a:xfrm>
            <a:off x="640080" y="2670048"/>
            <a:ext cx="2651760" cy="384048"/>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algun Gothic" pitchFamily="34" charset="0"/>
                <a:ea typeface="Malgun Gothic" pitchFamily="34" charset="-122"/>
                <a:cs typeface="Malgun Gothic" pitchFamily="34" charset="-120"/>
              </a:rPr>
              <a:t>Vehicle Velocity + Player Input</a:t>
            </a:r>
            <a:endParaRPr lang="en-US" sz="900" dirty="0"/>
          </a:p>
        </p:txBody>
      </p:sp>
      <p:sp>
        <p:nvSpPr>
          <p:cNvPr id="11" name="Text 9"/>
          <p:cNvSpPr txBox="1"/>
          <p:nvPr/>
        </p:nvSpPr>
        <p:spPr>
          <a:xfrm>
            <a:off x="640080" y="3054096"/>
            <a:ext cx="2651760" cy="12801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2" name="Shape 10"/>
          <p:cNvSpPr/>
          <p:nvPr/>
        </p:nvSpPr>
        <p:spPr>
          <a:xfrm>
            <a:off x="640080" y="3182112"/>
            <a:ext cx="2651760" cy="384048"/>
          </a:xfrm>
          <a:prstGeom prst="roundRect">
            <a:avLst>
              <a:gd name="adj" fmla="val 11905"/>
            </a:avLst>
          </a:prstGeom>
          <a:solidFill>
            <a:srgbClr val="181B27"/>
          </a:solidFill>
          <a:ln/>
        </p:spPr>
      </p:sp>
      <p:sp>
        <p:nvSpPr>
          <p:cNvPr id="13" name="Text 11"/>
          <p:cNvSpPr txBox="1"/>
          <p:nvPr/>
        </p:nvSpPr>
        <p:spPr>
          <a:xfrm>
            <a:off x="640080" y="3182112"/>
            <a:ext cx="2651760" cy="384048"/>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algun Gothic" pitchFamily="34" charset="0"/>
                <a:ea typeface="Malgun Gothic" pitchFamily="34" charset="-122"/>
                <a:cs typeface="Malgun Gothic" pitchFamily="34" charset="-120"/>
              </a:rPr>
              <a:t>Target Velocity 계산</a:t>
            </a:r>
            <a:endParaRPr lang="en-US" sz="900" dirty="0"/>
          </a:p>
          <a:p>
            <a:pPr algn="ctr" indent="0" marL="0">
              <a:lnSpc>
                <a:spcPct val="115000"/>
              </a:lnSpc>
              <a:buNone/>
            </a:pPr>
            <a:r>
              <a:rPr lang="en-US" sz="700" dirty="0">
                <a:solidFill>
                  <a:srgbClr val="9AA0C0"/>
                </a:solidFill>
                <a:latin typeface="Malgun Gothic" pitchFamily="34" charset="0"/>
                <a:ea typeface="Malgun Gothic" pitchFamily="34" charset="-122"/>
                <a:cs typeface="Malgun Gothic" pitchFamily="34" charset="-120"/>
              </a:rPr>
              <a:t>두 속도를 더한 목표 속도</a:t>
            </a:r>
            <a:endParaRPr lang="en-US" sz="900" dirty="0"/>
          </a:p>
        </p:txBody>
      </p:sp>
      <p:sp>
        <p:nvSpPr>
          <p:cNvPr id="14" name="Text 12"/>
          <p:cNvSpPr txBox="1"/>
          <p:nvPr/>
        </p:nvSpPr>
        <p:spPr>
          <a:xfrm>
            <a:off x="640080" y="3566160"/>
            <a:ext cx="2651760" cy="12801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5" name="Shape 13"/>
          <p:cNvSpPr/>
          <p:nvPr/>
        </p:nvSpPr>
        <p:spPr>
          <a:xfrm>
            <a:off x="640080" y="3694176"/>
            <a:ext cx="2651760" cy="384048"/>
          </a:xfrm>
          <a:prstGeom prst="roundRect">
            <a:avLst>
              <a:gd name="adj" fmla="val 11905"/>
            </a:avLst>
          </a:prstGeom>
          <a:solidFill>
            <a:srgbClr val="26317A"/>
          </a:solidFill>
          <a:ln/>
        </p:spPr>
      </p:sp>
      <p:sp>
        <p:nvSpPr>
          <p:cNvPr id="16" name="Text 14"/>
          <p:cNvSpPr txBox="1"/>
          <p:nvPr/>
        </p:nvSpPr>
        <p:spPr>
          <a:xfrm>
            <a:off x="640080" y="3694176"/>
            <a:ext cx="2651760" cy="384048"/>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algun Gothic" pitchFamily="34" charset="0"/>
                <a:ea typeface="Malgun Gothic" pitchFamily="34" charset="-122"/>
                <a:cs typeface="Malgun Gothic" pitchFamily="34" charset="-120"/>
              </a:rPr>
              <a:t>Rigidbody.velocity 적용</a:t>
            </a:r>
            <a:endParaRPr lang="en-US" sz="900" dirty="0"/>
          </a:p>
        </p:txBody>
      </p:sp>
      <p:sp>
        <p:nvSpPr>
          <p:cNvPr id="17" name="Shape 15"/>
          <p:cNvSpPr/>
          <p:nvPr/>
        </p:nvSpPr>
        <p:spPr>
          <a:xfrm>
            <a:off x="3611880" y="2670048"/>
            <a:ext cx="3383280" cy="1965960"/>
          </a:xfrm>
          <a:prstGeom prst="roundRect">
            <a:avLst>
              <a:gd name="adj" fmla="val 2791"/>
            </a:avLst>
          </a:prstGeom>
          <a:solidFill>
            <a:srgbClr val="13151F"/>
          </a:solidFill>
          <a:ln/>
        </p:spPr>
      </p:sp>
      <p:sp>
        <p:nvSpPr>
          <p:cNvPr id="18" name="Shape 16"/>
          <p:cNvSpPr/>
          <p:nvPr/>
        </p:nvSpPr>
        <p:spPr>
          <a:xfrm>
            <a:off x="3611880" y="2670048"/>
            <a:ext cx="3383280" cy="274320"/>
          </a:xfrm>
          <a:prstGeom prst="roundRect">
            <a:avLst>
              <a:gd name="adj" fmla="val 20000"/>
            </a:avLst>
          </a:prstGeom>
          <a:solidFill>
            <a:srgbClr val="0D0E16"/>
          </a:solidFill>
          <a:ln/>
        </p:spPr>
      </p:sp>
      <p:sp>
        <p:nvSpPr>
          <p:cNvPr id="19" name="Shape 17"/>
          <p:cNvSpPr/>
          <p:nvPr/>
        </p:nvSpPr>
        <p:spPr>
          <a:xfrm>
            <a:off x="3611880" y="2807208"/>
            <a:ext cx="3383280" cy="137160"/>
          </a:xfrm>
          <a:prstGeom prst="rect">
            <a:avLst/>
          </a:prstGeom>
          <a:solidFill>
            <a:srgbClr val="0D0E16"/>
          </a:solidFill>
          <a:ln/>
        </p:spPr>
      </p:sp>
      <p:sp>
        <p:nvSpPr>
          <p:cNvPr id="20" name="Text 18"/>
          <p:cNvSpPr txBox="1"/>
          <p:nvPr/>
        </p:nvSpPr>
        <p:spPr>
          <a:xfrm>
            <a:off x="3721608" y="2670048"/>
            <a:ext cx="3163824"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VehicleRider.cs — FixedUpdate()</a:t>
            </a:r>
            <a:endParaRPr lang="en-US" sz="850" dirty="0"/>
          </a:p>
        </p:txBody>
      </p:sp>
      <p:sp>
        <p:nvSpPr>
          <p:cNvPr id="21" name="Text 19"/>
          <p:cNvSpPr txBox="1"/>
          <p:nvPr/>
        </p:nvSpPr>
        <p:spPr>
          <a:xfrm>
            <a:off x="3739896" y="3017520"/>
            <a:ext cx="3127248" cy="1545336"/>
          </a:xfrm>
          <a:prstGeom prst="rect">
            <a:avLst/>
          </a:prstGeom>
          <a:noFill/>
          <a:ln/>
        </p:spPr>
        <p:txBody>
          <a:bodyPr wrap="square" lIns="0" tIns="0" rIns="0" bIns="0" rtlCol="0" anchor="t"/>
          <a:lstStyle/>
          <a:p>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vehicleVelocity = vehicleRigid.velocity;</a:t>
            </a:r>
            <a:endParaRPr lang="en-US" sz="650" dirty="0"/>
          </a:p>
          <a:p>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playerInput =</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player?.GetPlayerInput() ?? </a:t>
            </a:r>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.zero;</a:t>
            </a:r>
            <a:endParaRPr lang="en-US" sz="650" dirty="0"/>
          </a:p>
          <a:p>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targetVelocity = </a:t>
            </a:r>
            <a:pPr indent="0" marL="0">
              <a:lnSpc>
                <a:spcPct val="118000"/>
              </a:lnSpc>
              <a:buNone/>
            </a:pPr>
            <a:r>
              <a:rPr lang="en-US" sz="650" dirty="0">
                <a:solidFill>
                  <a:srgbClr val="569CD6"/>
                </a:solidFill>
                <a:latin typeface="Consolas" pitchFamily="34" charset="0"/>
                <a:ea typeface="Consolas" pitchFamily="34" charset="-122"/>
                <a:cs typeface="Consolas" pitchFamily="34" charset="-120"/>
              </a:rPr>
              <a:t>new</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vehicleVelocity.x + playerInput.x,</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rigid.velocity.y,</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vehicleVelocity.z + playerInput.z);</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rigid.velocity = </a:t>
            </a:r>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.Lerp(</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rigid.velocity, targetVelocity,</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Time</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.fixedDeltaTime * </a:t>
            </a:r>
            <a:pPr indent="0" marL="0">
              <a:lnSpc>
                <a:spcPct val="118000"/>
              </a:lnSpc>
              <a:buNone/>
            </a:pPr>
            <a:r>
              <a:rPr lang="en-US" sz="650" dirty="0">
                <a:solidFill>
                  <a:srgbClr val="B5CEA8"/>
                </a:solidFill>
                <a:latin typeface="Consolas" pitchFamily="34" charset="0"/>
                <a:ea typeface="Consolas" pitchFamily="34" charset="-122"/>
                <a:cs typeface="Consolas" pitchFamily="34" charset="-120"/>
              </a:rPr>
              <a:t>20f</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a:t>
            </a:r>
            <a:endParaRPr lang="en-US" sz="650" dirty="0"/>
          </a:p>
        </p:txBody>
      </p:sp>
      <p:sp>
        <p:nvSpPr>
          <p:cNvPr id="22" name="Shape 20"/>
          <p:cNvSpPr/>
          <p:nvPr/>
        </p:nvSpPr>
        <p:spPr>
          <a:xfrm>
            <a:off x="548640" y="4892040"/>
            <a:ext cx="32004" cy="502920"/>
          </a:xfrm>
          <a:prstGeom prst="rect">
            <a:avLst/>
          </a:prstGeom>
          <a:solidFill>
            <a:srgbClr val="3355CC"/>
          </a:solidFill>
          <a:ln/>
        </p:spPr>
      </p:sp>
      <p:sp>
        <p:nvSpPr>
          <p:cNvPr id="23" name="Text 21"/>
          <p:cNvSpPr txBox="1"/>
          <p:nvPr/>
        </p:nvSpPr>
        <p:spPr>
          <a:xfrm>
            <a:off x="685800" y="4846320"/>
            <a:ext cx="6400800" cy="594360"/>
          </a:xfrm>
          <a:prstGeom prst="rect">
            <a:avLst/>
          </a:prstGeom>
          <a:noFill/>
          <a:ln/>
        </p:spPr>
        <p:txBody>
          <a:bodyPr wrap="square" lIns="0" tIns="0" rIns="0" bIns="0" rtlCol="0" anchor="t"/>
          <a:lstStyle/>
          <a:p>
            <a:pPr indent="0" marL="0">
              <a:lnSpc>
                <a:spcPct val="120000"/>
              </a:lnSpc>
              <a:buNone/>
            </a:pPr>
            <a:r>
              <a:rPr lang="en-US" sz="930" dirty="0">
                <a:solidFill>
                  <a:srgbClr val="121428"/>
                </a:solidFill>
                <a:latin typeface="Malgun Gothic" pitchFamily="34" charset="0"/>
                <a:ea typeface="Malgun Gothic" pitchFamily="34" charset="-122"/>
                <a:cs typeface="Malgun Gothic" pitchFamily="34" charset="-120"/>
              </a:rPr>
              <a:t>Transform 계층과 Rigidbody 물리는 서로 다른 방식으로 위치를 갱신한다는 점을 원인으로 확인했습니다. 부모·자식 관계 대신 차량 속도를 매 프레임 플레이어의 목표 속도에 반영하는 방식으로 바꿨습니다.</a:t>
            </a:r>
            <a:endParaRPr lang="en-US" sz="930" dirty="0"/>
          </a:p>
        </p:txBody>
      </p:sp>
      <p:sp>
        <p:nvSpPr>
          <p:cNvPr id="24" name="Text 22"/>
          <p:cNvSpPr txBox="1"/>
          <p:nvPr/>
        </p:nvSpPr>
        <p:spPr>
          <a:xfrm>
            <a:off x="7360920" y="1115568"/>
            <a:ext cx="2926080" cy="228600"/>
          </a:xfrm>
          <a:prstGeom prst="rect">
            <a:avLst/>
          </a:prstGeom>
          <a:noFill/>
          <a:ln/>
        </p:spPr>
        <p:txBody>
          <a:bodyPr wrap="square" lIns="0" tIns="0" rIns="0" bIns="0" rtlCol="0" anchor="ctr"/>
          <a:lstStyle/>
          <a:p>
            <a:pPr indent="0" marL="0">
              <a:buNone/>
            </a:pPr>
            <a:r>
              <a:rPr lang="en-US" sz="870" b="1" dirty="0">
                <a:solidFill>
                  <a:srgbClr val="6B7080"/>
                </a:solidFill>
                <a:latin typeface="Malgun Gothic" pitchFamily="34" charset="0"/>
                <a:ea typeface="Malgun Gothic" pitchFamily="34" charset="-122"/>
                <a:cs typeface="Malgun Gothic" pitchFamily="34" charset="-120"/>
              </a:rPr>
              <a:t>SECONDARY — SPAWN VALIDATION</a:t>
            </a:r>
            <a:endParaRPr lang="en-US" sz="870" dirty="0"/>
          </a:p>
        </p:txBody>
      </p:sp>
      <p:sp>
        <p:nvSpPr>
          <p:cNvPr id="25" name="Shape 23"/>
          <p:cNvSpPr/>
          <p:nvPr/>
        </p:nvSpPr>
        <p:spPr>
          <a:xfrm>
            <a:off x="7360920" y="1417320"/>
            <a:ext cx="4279392" cy="731520"/>
          </a:xfrm>
          <a:prstGeom prst="roundRect">
            <a:avLst>
              <a:gd name="adj" fmla="val 7500"/>
            </a:avLst>
          </a:prstGeom>
          <a:solidFill>
            <a:srgbClr val="F1F1F5"/>
          </a:solidFill>
          <a:ln/>
        </p:spPr>
      </p:sp>
      <p:sp>
        <p:nvSpPr>
          <p:cNvPr id="26" name="Text 24"/>
          <p:cNvSpPr txBox="1"/>
          <p:nvPr/>
        </p:nvSpPr>
        <p:spPr>
          <a:xfrm>
            <a:off x="7360920" y="1463040"/>
            <a:ext cx="4279392" cy="640080"/>
          </a:xfrm>
          <a:prstGeom prst="rect">
            <a:avLst/>
          </a:prstGeom>
          <a:noFill/>
          <a:ln/>
        </p:spPr>
        <p:txBody>
          <a:bodyPr wrap="square" lIns="0" tIns="0" rIns="0" bIns="0" rtlCol="0" anchor="ctr"/>
          <a:lstStyle/>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Collider Bounds 합산 (없으면 Renderer)</a:t>
            </a:r>
            <a:endParaRPr lang="en-US" sz="820" dirty="0"/>
          </a:p>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           ↓</a:t>
            </a:r>
            <a:endParaRPr lang="en-US" sz="820" dirty="0"/>
          </a:p>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검사 반경 = vehicleSize × 1.2</a:t>
            </a:r>
            <a:endParaRPr lang="en-US" sz="820" dirty="0"/>
          </a:p>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           ↓</a:t>
            </a:r>
            <a:endParaRPr lang="en-US" sz="820" dirty="0"/>
          </a:p>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실패 시 조건 완화 → 최대 60회 재탐색</a:t>
            </a:r>
            <a:endParaRPr lang="en-US" sz="820" dirty="0"/>
          </a:p>
        </p:txBody>
      </p:sp>
      <p:sp>
        <p:nvSpPr>
          <p:cNvPr id="27" name="Shape 25"/>
          <p:cNvSpPr/>
          <p:nvPr/>
        </p:nvSpPr>
        <p:spPr>
          <a:xfrm>
            <a:off x="7360920" y="2221992"/>
            <a:ext cx="4279392" cy="1051560"/>
          </a:xfrm>
          <a:prstGeom prst="roundRect">
            <a:avLst>
              <a:gd name="adj" fmla="val 5217"/>
            </a:avLst>
          </a:prstGeom>
          <a:solidFill>
            <a:srgbClr val="13151F"/>
          </a:solidFill>
          <a:ln/>
        </p:spPr>
      </p:sp>
      <p:sp>
        <p:nvSpPr>
          <p:cNvPr id="28" name="Shape 26"/>
          <p:cNvSpPr/>
          <p:nvPr/>
        </p:nvSpPr>
        <p:spPr>
          <a:xfrm>
            <a:off x="7360920" y="2221992"/>
            <a:ext cx="4279392" cy="274320"/>
          </a:xfrm>
          <a:prstGeom prst="roundRect">
            <a:avLst>
              <a:gd name="adj" fmla="val 20000"/>
            </a:avLst>
          </a:prstGeom>
          <a:solidFill>
            <a:srgbClr val="0D0E16"/>
          </a:solidFill>
          <a:ln/>
        </p:spPr>
      </p:sp>
      <p:sp>
        <p:nvSpPr>
          <p:cNvPr id="29" name="Shape 27"/>
          <p:cNvSpPr/>
          <p:nvPr/>
        </p:nvSpPr>
        <p:spPr>
          <a:xfrm>
            <a:off x="7360920" y="2359152"/>
            <a:ext cx="4279392" cy="137160"/>
          </a:xfrm>
          <a:prstGeom prst="rect">
            <a:avLst/>
          </a:prstGeom>
          <a:solidFill>
            <a:srgbClr val="0D0E16"/>
          </a:solidFill>
          <a:ln/>
        </p:spPr>
      </p:sp>
      <p:sp>
        <p:nvSpPr>
          <p:cNvPr id="30" name="Text 28"/>
          <p:cNvSpPr txBox="1"/>
          <p:nvPr/>
        </p:nvSpPr>
        <p:spPr>
          <a:xfrm>
            <a:off x="7470648" y="2221992"/>
            <a:ext cx="4059936"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VehicleSpawner.cs</a:t>
            </a:r>
            <a:endParaRPr lang="en-US" sz="850" dirty="0"/>
          </a:p>
        </p:txBody>
      </p:sp>
      <p:sp>
        <p:nvSpPr>
          <p:cNvPr id="31" name="Text 29"/>
          <p:cNvSpPr txBox="1"/>
          <p:nvPr/>
        </p:nvSpPr>
        <p:spPr>
          <a:xfrm>
            <a:off x="7488936" y="2569464"/>
            <a:ext cx="4023360" cy="630936"/>
          </a:xfrm>
          <a:prstGeom prst="rect">
            <a:avLst/>
          </a:prstGeom>
          <a:noFill/>
          <a:ln/>
        </p:spPr>
        <p:txBody>
          <a:bodyPr wrap="square" lIns="0" tIns="0" rIns="0" bIns="0" rtlCol="0" anchor="t"/>
          <a:lstStyle/>
          <a:p>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checkRadius = vehicleSize * </a:t>
            </a:r>
            <a:pPr indent="0" marL="0">
              <a:lnSpc>
                <a:spcPct val="118000"/>
              </a:lnSpc>
              <a:buNone/>
            </a:pPr>
            <a:r>
              <a:rPr lang="en-US" sz="720" dirty="0">
                <a:solidFill>
                  <a:srgbClr val="B5CEA8"/>
                </a:solidFill>
                <a:latin typeface="Consolas" pitchFamily="34" charset="0"/>
                <a:ea typeface="Consolas" pitchFamily="34" charset="-122"/>
                <a:cs typeface="Consolas" pitchFamily="34" charset="-120"/>
              </a:rPr>
              <a:t>1.2f</a:t>
            </a:r>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a:t>
            </a:r>
            <a:endParaRPr lang="en-US" sz="720" dirty="0"/>
          </a:p>
          <a:p>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a:t>
            </a:r>
            <a:endParaRPr lang="en-US" sz="720" dirty="0"/>
          </a:p>
          <a:p>
            <a:pPr indent="0" marL="0">
              <a:lnSpc>
                <a:spcPct val="118000"/>
              </a:lnSpc>
              <a:buNone/>
            </a:pPr>
            <a:r>
              <a:rPr lang="en-US" sz="720" dirty="0">
                <a:solidFill>
                  <a:srgbClr val="4EC9B0"/>
                </a:solidFill>
                <a:latin typeface="Consolas" pitchFamily="34" charset="0"/>
                <a:ea typeface="Consolas" pitchFamily="34" charset="-122"/>
                <a:cs typeface="Consolas" pitchFamily="34" charset="-120"/>
              </a:rPr>
              <a:t>Collider</a:t>
            </a:r>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 overlaps =</a:t>
            </a:r>
            <a:endParaRPr lang="en-US" sz="720" dirty="0"/>
          </a:p>
          <a:p>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20" dirty="0">
                <a:solidFill>
                  <a:srgbClr val="4EC9B0"/>
                </a:solidFill>
                <a:latin typeface="Consolas" pitchFamily="34" charset="0"/>
                <a:ea typeface="Consolas" pitchFamily="34" charset="-122"/>
                <a:cs typeface="Consolas" pitchFamily="34" charset="-120"/>
              </a:rPr>
              <a:t>Physics</a:t>
            </a:r>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.OverlapSphere(position, checkRadius);</a:t>
            </a:r>
            <a:endParaRPr lang="en-US" sz="720" dirty="0"/>
          </a:p>
        </p:txBody>
      </p:sp>
      <p:sp>
        <p:nvSpPr>
          <p:cNvPr id="32" name="Text 30"/>
          <p:cNvSpPr txBox="1"/>
          <p:nvPr/>
        </p:nvSpPr>
        <p:spPr>
          <a:xfrm>
            <a:off x="7360920" y="3401568"/>
            <a:ext cx="4279392" cy="182880"/>
          </a:xfrm>
          <a:prstGeom prst="rect">
            <a:avLst/>
          </a:prstGeom>
          <a:noFill/>
          <a:ln/>
        </p:spPr>
        <p:txBody>
          <a:bodyPr wrap="square" lIns="0" tIns="0" rIns="0" bIns="0" rtlCol="0" anchor="ctr"/>
          <a:lstStyle/>
          <a:p>
            <a:pPr indent="0" marL="0">
              <a:buNone/>
            </a:pPr>
            <a:r>
              <a:rPr lang="en-US" sz="850" b="1" spc="100" kern="0" dirty="0">
                <a:solidFill>
                  <a:srgbClr val="6B7080"/>
                </a:solidFill>
              </a:rPr>
              <a:t>RUNTIME RECOVERY</a:t>
            </a:r>
            <a:endParaRPr lang="en-US" sz="850" dirty="0"/>
          </a:p>
        </p:txBody>
      </p:sp>
      <p:sp>
        <p:nvSpPr>
          <p:cNvPr id="33" name="Shape 31"/>
          <p:cNvSpPr/>
          <p:nvPr/>
        </p:nvSpPr>
        <p:spPr>
          <a:xfrm>
            <a:off x="7360920" y="3621024"/>
            <a:ext cx="4279392" cy="621792"/>
          </a:xfrm>
          <a:prstGeom prst="roundRect">
            <a:avLst>
              <a:gd name="adj" fmla="val 8824"/>
            </a:avLst>
          </a:prstGeom>
          <a:solidFill>
            <a:srgbClr val="F1F1F5"/>
          </a:solidFill>
          <a:ln/>
        </p:spPr>
      </p:sp>
      <p:sp>
        <p:nvSpPr>
          <p:cNvPr id="34" name="Text 32"/>
          <p:cNvSpPr txBox="1"/>
          <p:nvPr/>
        </p:nvSpPr>
        <p:spPr>
          <a:xfrm>
            <a:off x="7470648" y="3666744"/>
            <a:ext cx="4059936" cy="512064"/>
          </a:xfrm>
          <a:prstGeom prst="rect">
            <a:avLst/>
          </a:prstGeom>
          <a:noFill/>
          <a:ln/>
        </p:spPr>
        <p:txBody>
          <a:bodyPr wrap="square" lIns="0" tIns="0" rIns="0" bIns="0" rtlCol="0" anchor="ctr"/>
          <a:lstStyle/>
          <a:p>
            <a:pPr indent="0" marL="0">
              <a:lnSpc>
                <a:spcPct val="118000"/>
              </a:lnSpc>
              <a:buNone/>
            </a:pPr>
            <a:r>
              <a:rPr lang="en-US" sz="900" b="1" dirty="0">
                <a:solidFill>
                  <a:srgbClr val="121428"/>
                </a:solidFill>
                <a:latin typeface="Malgun Gothic" pitchFamily="34" charset="0"/>
                <a:ea typeface="Malgun Gothic" pitchFamily="34" charset="-122"/>
                <a:cs typeface="Malgun Gothic" pitchFamily="34" charset="-120"/>
              </a:rPr>
              <a:t>Traffic Jam Recovery
</a:t>
            </a:r>
            <a:pPr indent="0" marL="0">
              <a:lnSpc>
                <a:spcPct val="118000"/>
              </a:lnSpc>
              <a:buNone/>
            </a:pPr>
            <a:r>
              <a:rPr lang="en-US" sz="810" dirty="0">
                <a:solidFill>
                  <a:srgbClr val="444858"/>
                </a:solidFill>
                <a:latin typeface="Malgun Gothic" pitchFamily="34" charset="0"/>
                <a:ea typeface="Malgun Gothic" pitchFamily="34" charset="-122"/>
                <a:cs typeface="Malgun Gothic" pitchFamily="34" charset="-120"/>
              </a:rPr>
              <a:t>차량 속도가 stalledTimeThreshold(5초) 이상 임계값 아래로 유지되면 실패 조건으로 정의하고 제거했습니다.</a:t>
            </a:r>
            <a:endParaRPr lang="en-US" sz="900" dirty="0"/>
          </a:p>
        </p:txBody>
      </p:sp>
      <p:sp>
        <p:nvSpPr>
          <p:cNvPr id="35" name="Shape 33"/>
          <p:cNvSpPr/>
          <p:nvPr/>
        </p:nvSpPr>
        <p:spPr>
          <a:xfrm>
            <a:off x="7360920" y="4315968"/>
            <a:ext cx="4279392" cy="658368"/>
          </a:xfrm>
          <a:prstGeom prst="roundRect">
            <a:avLst>
              <a:gd name="adj" fmla="val 8333"/>
            </a:avLst>
          </a:prstGeom>
          <a:solidFill>
            <a:srgbClr val="F1F1F5"/>
          </a:solidFill>
          <a:ln/>
        </p:spPr>
      </p:sp>
      <p:sp>
        <p:nvSpPr>
          <p:cNvPr id="36" name="Text 34"/>
          <p:cNvSpPr txBox="1"/>
          <p:nvPr/>
        </p:nvSpPr>
        <p:spPr>
          <a:xfrm>
            <a:off x="7470648" y="4370832"/>
            <a:ext cx="4059936" cy="548640"/>
          </a:xfrm>
          <a:prstGeom prst="rect">
            <a:avLst/>
          </a:prstGeom>
          <a:noFill/>
          <a:ln/>
        </p:spPr>
        <p:txBody>
          <a:bodyPr wrap="square" lIns="0" tIns="0" rIns="0" bIns="0" rtlCol="0" anchor="ctr"/>
          <a:lstStyle/>
          <a:p>
            <a:pPr indent="0" marL="0">
              <a:lnSpc>
                <a:spcPct val="118000"/>
              </a:lnSpc>
              <a:buNone/>
            </a:pPr>
            <a:r>
              <a:rPr lang="en-US" sz="900" b="1" dirty="0">
                <a:solidFill>
                  <a:srgbClr val="121428"/>
                </a:solidFill>
                <a:latin typeface="Malgun Gothic" pitchFamily="34" charset="0"/>
                <a:ea typeface="Malgun Gothic" pitchFamily="34" charset="-122"/>
                <a:cs typeface="Malgun Gothic" pitchFamily="34" charset="-120"/>
              </a:rPr>
              <a:t>Fast Collision Safety
</a:t>
            </a:r>
            <a:pPr indent="0" marL="0">
              <a:lnSpc>
                <a:spcPct val="118000"/>
              </a:lnSpc>
              <a:buNone/>
            </a:pPr>
            <a:r>
              <a:rPr lang="en-US" sz="810" dirty="0">
                <a:solidFill>
                  <a:srgbClr val="444858"/>
                </a:solidFill>
                <a:latin typeface="Malgun Gothic" pitchFamily="34" charset="0"/>
                <a:ea typeface="Malgun Gothic" pitchFamily="34" charset="-122"/>
                <a:cs typeface="Malgun Gothic" pitchFamily="34" charset="-120"/>
              </a:rPr>
              <a:t>빠른 차량과의 상대 속도가 큰 상황에서 충돌 판정이 누락될 수 있다고 판단해, Player Rigidbody를 Continuous CD·Interpolate로 설정했습니다.</a:t>
            </a:r>
            <a:endParaRPr lang="en-US" sz="900" dirty="0"/>
          </a:p>
        </p:txBody>
      </p:sp>
      <p:sp>
        <p:nvSpPr>
          <p:cNvPr id="37" name="Shape 35"/>
          <p:cNvSpPr/>
          <p:nvPr/>
        </p:nvSpPr>
        <p:spPr>
          <a:xfrm>
            <a:off x="548640" y="6263640"/>
            <a:ext cx="11091672" cy="1188720"/>
          </a:xfrm>
          <a:prstGeom prst="roundRect">
            <a:avLst>
              <a:gd name="adj" fmla="val 4615"/>
            </a:avLst>
          </a:prstGeom>
          <a:solidFill>
            <a:srgbClr val="13151F"/>
          </a:solidFill>
          <a:ln/>
        </p:spPr>
      </p:sp>
      <p:sp>
        <p:nvSpPr>
          <p:cNvPr id="38" name="Text 36"/>
          <p:cNvSpPr txBox="1"/>
          <p:nvPr/>
        </p:nvSpPr>
        <p:spPr>
          <a:xfrm>
            <a:off x="822960" y="6464808"/>
            <a:ext cx="3657600" cy="274320"/>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4 STAGES COMPLETED</a:t>
            </a:r>
            <a:endParaRPr lang="en-US" sz="1300" dirty="0"/>
          </a:p>
        </p:txBody>
      </p:sp>
      <p:sp>
        <p:nvSpPr>
          <p:cNvPr id="39" name="Text 37"/>
          <p:cNvSpPr txBox="1"/>
          <p:nvPr/>
        </p:nvSpPr>
        <p:spPr>
          <a:xfrm>
            <a:off x="822960" y="6793992"/>
            <a:ext cx="3657600" cy="365760"/>
          </a:xfrm>
          <a:prstGeom prst="rect">
            <a:avLst/>
          </a:prstGeom>
          <a:noFill/>
          <a:ln/>
        </p:spPr>
        <p:txBody>
          <a:bodyPr wrap="square" lIns="0" tIns="0" rIns="0" bIns="0" rtlCol="0" anchor="ctr"/>
          <a:lstStyle/>
          <a:p>
            <a:pPr indent="0" marL="0">
              <a:buNone/>
            </a:pPr>
            <a:r>
              <a:rPr lang="en-US" sz="930" dirty="0">
                <a:solidFill>
                  <a:srgbClr val="AEB2C8"/>
                </a:solidFill>
                <a:latin typeface="Malgun Gothic" pitchFamily="34" charset="0"/>
                <a:ea typeface="Malgun Gothic" pitchFamily="34" charset="-122"/>
                <a:cs typeface="Malgun Gothic" pitchFamily="34" charset="-120"/>
              </a:rPr>
              <a:t>2인 팀으로 4개 스테이지 모두 플레이 가능한 상태까지 완성</a:t>
            </a:r>
            <a:endParaRPr lang="en-US" sz="930" dirty="0"/>
          </a:p>
        </p:txBody>
      </p:sp>
      <p:sp>
        <p:nvSpPr>
          <p:cNvPr id="40" name="Shape 38"/>
          <p:cNvSpPr/>
          <p:nvPr/>
        </p:nvSpPr>
        <p:spPr>
          <a:xfrm>
            <a:off x="4754880" y="6446520"/>
            <a:ext cx="0" cy="822960"/>
          </a:xfrm>
          <a:prstGeom prst="line">
            <a:avLst/>
          </a:prstGeom>
          <a:noFill/>
          <a:ln w="12700">
            <a:solidFill>
              <a:srgbClr val="343850"/>
            </a:solidFill>
            <a:prstDash val="solid"/>
          </a:ln>
        </p:spPr>
      </p:sp>
      <p:sp>
        <p:nvSpPr>
          <p:cNvPr id="41" name="Text 39"/>
          <p:cNvSpPr txBox="1"/>
          <p:nvPr/>
        </p:nvSpPr>
        <p:spPr>
          <a:xfrm>
            <a:off x="4983480" y="6464808"/>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2nd PLACE</a:t>
            </a:r>
            <a:endParaRPr lang="en-US" sz="1300" dirty="0"/>
          </a:p>
        </p:txBody>
      </p:sp>
      <p:sp>
        <p:nvSpPr>
          <p:cNvPr id="42" name="Text 40"/>
          <p:cNvSpPr txBox="1"/>
          <p:nvPr/>
        </p:nvSpPr>
        <p:spPr>
          <a:xfrm>
            <a:off x="4983480" y="6793992"/>
            <a:ext cx="2743200" cy="365760"/>
          </a:xfrm>
          <a:prstGeom prst="rect">
            <a:avLst/>
          </a:prstGeom>
          <a:noFill/>
          <a:ln/>
        </p:spPr>
        <p:txBody>
          <a:bodyPr wrap="square" lIns="0" tIns="0" rIns="0" bIns="0" rtlCol="0" anchor="ctr"/>
          <a:lstStyle/>
          <a:p>
            <a:pPr indent="0" marL="0">
              <a:buNone/>
            </a:pPr>
            <a:r>
              <a:rPr lang="en-US" sz="930" dirty="0">
                <a:solidFill>
                  <a:srgbClr val="AEB2C8"/>
                </a:solidFill>
                <a:latin typeface="Malgun Gothic" pitchFamily="34" charset="0"/>
                <a:ea typeface="Malgun Gothic" pitchFamily="34" charset="-122"/>
                <a:cs typeface="Malgun Gothic" pitchFamily="34" charset="-120"/>
              </a:rPr>
              <a:t>수강생 상호 플레이 평가 2위</a:t>
            </a:r>
            <a:endParaRPr lang="en-US" sz="930" dirty="0"/>
          </a:p>
        </p:txBody>
      </p:sp>
      <p:pic>
        <p:nvPicPr>
          <p:cNvPr id="43" name="Image 0" descr="/tmp/rebuild/traffic_strip.png">    </p:cNvPr>
          <p:cNvPicPr>
            <a:picLocks noChangeAspect="1"/>
          </p:cNvPicPr>
          <p:nvPr/>
        </p:nvPicPr>
        <p:blipFill>
          <a:blip r:embed="rId1"/>
          <a:stretch>
            <a:fillRect/>
          </a:stretch>
        </p:blipFill>
        <p:spPr>
          <a:xfrm>
            <a:off x="7955280" y="6556248"/>
            <a:ext cx="3383280" cy="6035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19456"/>
          </a:xfrm>
          <a:prstGeom prst="rect">
            <a:avLst/>
          </a:prstGeom>
          <a:noFill/>
          <a:ln/>
        </p:spPr>
        <p:txBody>
          <a:bodyPr wrap="square" lIns="0" tIns="0" rIns="0" bIns="0" rtlCol="0" anchor="ctr"/>
          <a:lstStyle/>
          <a:p>
            <a:pPr indent="0" marL="0">
              <a:buNone/>
            </a:pPr>
            <a:r>
              <a:rPr lang="en-US" sz="1100" b="1" spc="50" kern="0" dirty="0">
                <a:solidFill>
                  <a:srgbClr val="121428"/>
                </a:solidFill>
                <a:latin typeface="Malgun Gothic" pitchFamily="34" charset="0"/>
                <a:ea typeface="Malgun Gothic" pitchFamily="34" charset="-122"/>
                <a:cs typeface="Malgun Gothic" pitchFamily="34" charset="-120"/>
              </a:rPr>
              <a:t>BACKEND DEVELOPMENT EXPERIENCE</a:t>
            </a:r>
            <a:endParaRPr lang="en-US" sz="1100" dirty="0"/>
          </a:p>
        </p:txBody>
      </p:sp>
      <p:sp>
        <p:nvSpPr>
          <p:cNvPr id="3" name="Text 1"/>
          <p:cNvSpPr txBox="1"/>
          <p:nvPr/>
        </p:nvSpPr>
        <p:spPr>
          <a:xfrm>
            <a:off x="548640" y="603504"/>
            <a:ext cx="11064240" cy="329184"/>
          </a:xfrm>
          <a:prstGeom prst="rect">
            <a:avLst/>
          </a:prstGeom>
          <a:noFill/>
          <a:ln/>
        </p:spPr>
        <p:txBody>
          <a:bodyPr wrap="square" lIns="0" tIns="0" rIns="0" bIns="0" rtlCol="0" anchor="ctr"/>
          <a:lstStyle/>
          <a:p>
            <a:pPr indent="0" marL="0">
              <a:buNone/>
            </a:pPr>
            <a:r>
              <a:rPr lang="en-US" sz="1900" b="1" dirty="0">
                <a:solidFill>
                  <a:srgbClr val="121428"/>
                </a:solidFill>
                <a:latin typeface="Malgun Gothic" pitchFamily="34" charset="0"/>
                <a:ea typeface="Malgun Gothic" pitchFamily="34" charset="-122"/>
                <a:cs typeface="Malgun Gothic" pitchFamily="34" charset="-120"/>
              </a:rPr>
              <a:t>Soccer Team Matching Service   </a:t>
            </a:r>
            <a:pPr indent="0" marL="0">
              <a:buNone/>
            </a:pPr>
            <a:r>
              <a:rPr lang="en-US" sz="1000" dirty="0">
                <a:solidFill>
                  <a:srgbClr val="6B7080"/>
                </a:solidFill>
                <a:latin typeface="Malgun Gothic" pitchFamily="34" charset="0"/>
                <a:ea typeface="Malgun Gothic" pitchFamily="34" charset="-122"/>
                <a:cs typeface="Malgun Gothic" pitchFamily="34" charset="-120"/>
              </a:rPr>
              <a:t>Node.js · TypeScript · Express · MongoDB · JWT · Swagger · Docker</a:t>
            </a:r>
            <a:endParaRPr lang="en-US" sz="1900" dirty="0"/>
          </a:p>
        </p:txBody>
      </p:sp>
      <p:sp>
        <p:nvSpPr>
          <p:cNvPr id="4" name="Text 2"/>
          <p:cNvSpPr txBox="1"/>
          <p:nvPr/>
        </p:nvSpPr>
        <p:spPr>
          <a:xfrm>
            <a:off x="548640" y="932688"/>
            <a:ext cx="11064240" cy="365760"/>
          </a:xfrm>
          <a:prstGeom prst="rect">
            <a:avLst/>
          </a:prstGeom>
          <a:noFill/>
          <a:ln/>
        </p:spPr>
        <p:txBody>
          <a:bodyPr wrap="square" lIns="0" tIns="0" rIns="0" bIns="0" rtlCol="0" anchor="ctr"/>
          <a:lstStyle/>
          <a:p>
            <a:pPr indent="0" marL="0">
              <a:lnSpc>
                <a:spcPct val="125000"/>
              </a:lnSpc>
              <a:buNone/>
            </a:pPr>
            <a:r>
              <a:rPr lang="en-US" sz="970" dirty="0">
                <a:solidFill>
                  <a:srgbClr val="444858"/>
                </a:solidFill>
                <a:latin typeface="Malgun Gothic" pitchFamily="34" charset="0"/>
                <a:ea typeface="Malgun Gothic" pitchFamily="34" charset="-122"/>
                <a:cs typeface="Malgun Gothic" pitchFamily="34" charset="-120"/>
              </a:rPr>
              <a:t>Unity 클라이언트 개발과 별도로 참여한 팀 프로젝트로, 축구팀 매칭 서비스의 REST API·인증·배포를 구현했습니다. </a:t>
            </a:r>
            <a:pPr indent="0" marL="0">
              <a:lnSpc>
                <a:spcPct val="125000"/>
              </a:lnSpc>
              <a:buNone/>
            </a:pPr>
            <a:r>
              <a:rPr lang="en-US" sz="970" b="1" dirty="0">
                <a:solidFill>
                  <a:srgbClr val="121428"/>
                </a:solidFill>
                <a:latin typeface="Malgun Gothic" pitchFamily="34" charset="0"/>
                <a:ea typeface="Malgun Gothic" pitchFamily="34" charset="-122"/>
                <a:cs typeface="Malgun Gothic" pitchFamily="34" charset="-120"/>
              </a:rPr>
              <a:t>클라이언트 요청이 서버 로직과 DB를 거쳐 응답으로 돌아오는 구조를 직접 구현했습니다.</a:t>
            </a:r>
            <a:endParaRPr lang="en-US" sz="970" dirty="0"/>
          </a:p>
        </p:txBody>
      </p:sp>
      <p:sp>
        <p:nvSpPr>
          <p:cNvPr id="5" name="Text 3"/>
          <p:cNvSpPr txBox="1"/>
          <p:nvPr/>
        </p:nvSpPr>
        <p:spPr>
          <a:xfrm>
            <a:off x="548640" y="1335024"/>
            <a:ext cx="2743200" cy="182880"/>
          </a:xfrm>
          <a:prstGeom prst="rect">
            <a:avLst/>
          </a:prstGeom>
          <a:noFill/>
          <a:ln/>
        </p:spPr>
        <p:txBody>
          <a:bodyPr wrap="square" lIns="0" tIns="0" rIns="0" bIns="0" rtlCol="0" anchor="ctr"/>
          <a:lstStyle/>
          <a:p>
            <a:pPr indent="0" marL="0">
              <a:buNone/>
            </a:pPr>
            <a:r>
              <a:rPr lang="en-US" sz="800" b="1" spc="100" kern="0" dirty="0">
                <a:solidFill>
                  <a:srgbClr val="6B7080"/>
                </a:solidFill>
              </a:rPr>
              <a:t>REQUEST FLOW</a:t>
            </a:r>
            <a:endParaRPr lang="en-US" sz="800" dirty="0"/>
          </a:p>
        </p:txBody>
      </p:sp>
      <p:sp>
        <p:nvSpPr>
          <p:cNvPr id="6" name="Shape 4"/>
          <p:cNvSpPr/>
          <p:nvPr/>
        </p:nvSpPr>
        <p:spPr>
          <a:xfrm>
            <a:off x="548640" y="1536192"/>
            <a:ext cx="11091672" cy="621792"/>
          </a:xfrm>
          <a:prstGeom prst="roundRect">
            <a:avLst>
              <a:gd name="adj" fmla="val 14706"/>
            </a:avLst>
          </a:prstGeom>
          <a:solidFill>
            <a:srgbClr val="13151F"/>
          </a:solidFill>
          <a:ln/>
        </p:spPr>
      </p:sp>
      <p:sp>
        <p:nvSpPr>
          <p:cNvPr id="7" name="Shape 5"/>
          <p:cNvSpPr/>
          <p:nvPr/>
        </p:nvSpPr>
        <p:spPr>
          <a:xfrm>
            <a:off x="822960" y="1591056"/>
            <a:ext cx="1490472" cy="512064"/>
          </a:xfrm>
          <a:prstGeom prst="roundRect">
            <a:avLst>
              <a:gd name="adj" fmla="val 8929"/>
            </a:avLst>
          </a:prstGeom>
          <a:solidFill>
            <a:srgbClr val="181B27"/>
          </a:solidFill>
          <a:ln/>
        </p:spPr>
      </p:sp>
      <p:sp>
        <p:nvSpPr>
          <p:cNvPr id="8" name="Text 6"/>
          <p:cNvSpPr txBox="1"/>
          <p:nvPr/>
        </p:nvSpPr>
        <p:spPr>
          <a:xfrm>
            <a:off x="822960"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Client</a:t>
            </a:r>
            <a:endParaRPr lang="en-US" sz="1100" dirty="0"/>
          </a:p>
        </p:txBody>
      </p:sp>
      <p:sp>
        <p:nvSpPr>
          <p:cNvPr id="9" name="Text 7"/>
          <p:cNvSpPr txBox="1"/>
          <p:nvPr/>
        </p:nvSpPr>
        <p:spPr>
          <a:xfrm>
            <a:off x="2313432"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10" name="Shape 8"/>
          <p:cNvSpPr/>
          <p:nvPr/>
        </p:nvSpPr>
        <p:spPr>
          <a:xfrm>
            <a:off x="2633472" y="1591056"/>
            <a:ext cx="1490472" cy="512064"/>
          </a:xfrm>
          <a:prstGeom prst="roundRect">
            <a:avLst>
              <a:gd name="adj" fmla="val 8929"/>
            </a:avLst>
          </a:prstGeom>
          <a:solidFill>
            <a:srgbClr val="181B27"/>
          </a:solidFill>
          <a:ln/>
        </p:spPr>
      </p:sp>
      <p:sp>
        <p:nvSpPr>
          <p:cNvPr id="11" name="Text 9"/>
          <p:cNvSpPr txBox="1"/>
          <p:nvPr/>
        </p:nvSpPr>
        <p:spPr>
          <a:xfrm>
            <a:off x="2633472"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Route</a:t>
            </a:r>
            <a:endParaRPr lang="en-US" sz="1100" dirty="0"/>
          </a:p>
        </p:txBody>
      </p:sp>
      <p:sp>
        <p:nvSpPr>
          <p:cNvPr id="12" name="Text 10"/>
          <p:cNvSpPr txBox="1"/>
          <p:nvPr/>
        </p:nvSpPr>
        <p:spPr>
          <a:xfrm>
            <a:off x="4123944"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13" name="Shape 11"/>
          <p:cNvSpPr/>
          <p:nvPr/>
        </p:nvSpPr>
        <p:spPr>
          <a:xfrm>
            <a:off x="4443984" y="1591056"/>
            <a:ext cx="1490472" cy="512064"/>
          </a:xfrm>
          <a:prstGeom prst="roundRect">
            <a:avLst>
              <a:gd name="adj" fmla="val 8929"/>
            </a:avLst>
          </a:prstGeom>
          <a:solidFill>
            <a:srgbClr val="181B27"/>
          </a:solidFill>
          <a:ln/>
        </p:spPr>
      </p:sp>
      <p:sp>
        <p:nvSpPr>
          <p:cNvPr id="14" name="Text 12"/>
          <p:cNvSpPr txBox="1"/>
          <p:nvPr/>
        </p:nvSpPr>
        <p:spPr>
          <a:xfrm>
            <a:off x="4443984"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Controller</a:t>
            </a:r>
            <a:endParaRPr lang="en-US" sz="1100" dirty="0"/>
          </a:p>
        </p:txBody>
      </p:sp>
      <p:sp>
        <p:nvSpPr>
          <p:cNvPr id="15" name="Text 13"/>
          <p:cNvSpPr txBox="1"/>
          <p:nvPr/>
        </p:nvSpPr>
        <p:spPr>
          <a:xfrm>
            <a:off x="5934456"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16" name="Shape 14"/>
          <p:cNvSpPr/>
          <p:nvPr/>
        </p:nvSpPr>
        <p:spPr>
          <a:xfrm>
            <a:off x="6254496" y="1591056"/>
            <a:ext cx="1490472" cy="512064"/>
          </a:xfrm>
          <a:prstGeom prst="roundRect">
            <a:avLst>
              <a:gd name="adj" fmla="val 8929"/>
            </a:avLst>
          </a:prstGeom>
          <a:solidFill>
            <a:srgbClr val="26317A"/>
          </a:solidFill>
          <a:ln/>
        </p:spPr>
      </p:sp>
      <p:sp>
        <p:nvSpPr>
          <p:cNvPr id="17" name="Text 15"/>
          <p:cNvSpPr txBox="1"/>
          <p:nvPr/>
        </p:nvSpPr>
        <p:spPr>
          <a:xfrm>
            <a:off x="6254496"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Service</a:t>
            </a:r>
            <a:endParaRPr lang="en-US" sz="1100" dirty="0"/>
          </a:p>
        </p:txBody>
      </p:sp>
      <p:sp>
        <p:nvSpPr>
          <p:cNvPr id="18" name="Text 16"/>
          <p:cNvSpPr txBox="1"/>
          <p:nvPr/>
        </p:nvSpPr>
        <p:spPr>
          <a:xfrm>
            <a:off x="7744968"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19" name="Shape 17"/>
          <p:cNvSpPr/>
          <p:nvPr/>
        </p:nvSpPr>
        <p:spPr>
          <a:xfrm>
            <a:off x="8065008" y="1591056"/>
            <a:ext cx="1490472" cy="512064"/>
          </a:xfrm>
          <a:prstGeom prst="roundRect">
            <a:avLst>
              <a:gd name="adj" fmla="val 8929"/>
            </a:avLst>
          </a:prstGeom>
          <a:solidFill>
            <a:srgbClr val="181B27"/>
          </a:solidFill>
          <a:ln/>
        </p:spPr>
      </p:sp>
      <p:sp>
        <p:nvSpPr>
          <p:cNvPr id="20" name="Text 18"/>
          <p:cNvSpPr txBox="1"/>
          <p:nvPr/>
        </p:nvSpPr>
        <p:spPr>
          <a:xfrm>
            <a:off x="8065008"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MongoDB</a:t>
            </a:r>
            <a:endParaRPr lang="en-US" sz="1100" dirty="0"/>
          </a:p>
        </p:txBody>
      </p:sp>
      <p:sp>
        <p:nvSpPr>
          <p:cNvPr id="21" name="Text 19"/>
          <p:cNvSpPr txBox="1"/>
          <p:nvPr/>
        </p:nvSpPr>
        <p:spPr>
          <a:xfrm>
            <a:off x="9555480"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22" name="Shape 20"/>
          <p:cNvSpPr/>
          <p:nvPr/>
        </p:nvSpPr>
        <p:spPr>
          <a:xfrm>
            <a:off x="9875520" y="1591056"/>
            <a:ext cx="1490472" cy="512064"/>
          </a:xfrm>
          <a:prstGeom prst="roundRect">
            <a:avLst>
              <a:gd name="adj" fmla="val 8929"/>
            </a:avLst>
          </a:prstGeom>
          <a:solidFill>
            <a:srgbClr val="181B27"/>
          </a:solidFill>
          <a:ln/>
        </p:spPr>
      </p:sp>
      <p:sp>
        <p:nvSpPr>
          <p:cNvPr id="23" name="Text 21"/>
          <p:cNvSpPr txBox="1"/>
          <p:nvPr/>
        </p:nvSpPr>
        <p:spPr>
          <a:xfrm>
            <a:off x="9875520"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Response</a:t>
            </a:r>
            <a:endParaRPr lang="en-US" sz="1100" dirty="0"/>
          </a:p>
        </p:txBody>
      </p:sp>
      <p:sp>
        <p:nvSpPr>
          <p:cNvPr id="24" name="Shape 22"/>
          <p:cNvSpPr/>
          <p:nvPr/>
        </p:nvSpPr>
        <p:spPr>
          <a:xfrm>
            <a:off x="548640" y="2395728"/>
            <a:ext cx="3931920" cy="1554480"/>
          </a:xfrm>
          <a:prstGeom prst="roundRect">
            <a:avLst>
              <a:gd name="adj" fmla="val 3529"/>
            </a:avLst>
          </a:prstGeom>
          <a:solidFill>
            <a:srgbClr val="FFFFFF"/>
          </a:solidFill>
          <a:ln w="12700">
            <a:solidFill>
              <a:srgbClr val="E3E3EA"/>
            </a:solidFill>
            <a:prstDash val="solid"/>
          </a:ln>
        </p:spPr>
      </p:sp>
      <p:sp>
        <p:nvSpPr>
          <p:cNvPr id="25" name="Text 23"/>
          <p:cNvSpPr txBox="1"/>
          <p:nvPr/>
        </p:nvSpPr>
        <p:spPr>
          <a:xfrm>
            <a:off x="713232" y="2523744"/>
            <a:ext cx="3602736" cy="182880"/>
          </a:xfrm>
          <a:prstGeom prst="rect">
            <a:avLst/>
          </a:prstGeom>
          <a:noFill/>
          <a:ln/>
        </p:spPr>
        <p:txBody>
          <a:bodyPr wrap="square" lIns="0" tIns="0" rIns="0" bIns="0" rtlCol="0" anchor="ctr"/>
          <a:lstStyle/>
          <a:p>
            <a:pPr indent="0" marL="0">
              <a:buNone/>
            </a:pPr>
            <a:r>
              <a:rPr lang="en-US" sz="900" b="1" spc="100" kern="0" dirty="0">
                <a:solidFill>
                  <a:srgbClr val="121428"/>
                </a:solidFill>
              </a:rPr>
              <a:t>MY ROLE</a:t>
            </a:r>
            <a:endParaRPr lang="en-US" sz="900" dirty="0"/>
          </a:p>
        </p:txBody>
      </p:sp>
      <p:sp>
        <p:nvSpPr>
          <p:cNvPr id="26" name="Text 24"/>
          <p:cNvSpPr txBox="1"/>
          <p:nvPr/>
        </p:nvSpPr>
        <p:spPr>
          <a:xfrm>
            <a:off x="713232" y="2724912"/>
            <a:ext cx="3602736" cy="1143000"/>
          </a:xfrm>
          <a:prstGeom prst="rect">
            <a:avLst/>
          </a:prstGeom>
          <a:noFill/>
          <a:ln/>
        </p:spPr>
        <p:txBody>
          <a:bodyPr wrap="square" lIns="0" tIns="0" rIns="0" bIns="0" rtlCol="0" anchor="ctr"/>
          <a:lstStyle/>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JWT 기반 로그인 및 인증</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휴대폰 인증 기능</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알림 API 및 기존 기능 연동</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팀 평가 및 평점 기능</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Swagger API 문서화</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서버 배포 및 트러블슈팅</a:t>
            </a:r>
            <a:endParaRPr lang="en-US" sz="900" dirty="0"/>
          </a:p>
        </p:txBody>
      </p:sp>
      <p:sp>
        <p:nvSpPr>
          <p:cNvPr id="27" name="Shape 25"/>
          <p:cNvSpPr/>
          <p:nvPr/>
        </p:nvSpPr>
        <p:spPr>
          <a:xfrm>
            <a:off x="548640" y="4096512"/>
            <a:ext cx="3931920" cy="1051560"/>
          </a:xfrm>
          <a:prstGeom prst="roundRect">
            <a:avLst>
              <a:gd name="adj" fmla="val 5217"/>
            </a:avLst>
          </a:prstGeom>
          <a:solidFill>
            <a:srgbClr val="FFFFFF"/>
          </a:solidFill>
          <a:ln w="12700">
            <a:solidFill>
              <a:srgbClr val="E3E3EA"/>
            </a:solidFill>
            <a:prstDash val="solid"/>
          </a:ln>
        </p:spPr>
      </p:sp>
      <p:sp>
        <p:nvSpPr>
          <p:cNvPr id="28" name="Text 26"/>
          <p:cNvSpPr txBox="1"/>
          <p:nvPr/>
        </p:nvSpPr>
        <p:spPr>
          <a:xfrm>
            <a:off x="713232" y="4224528"/>
            <a:ext cx="3602736" cy="182880"/>
          </a:xfrm>
          <a:prstGeom prst="rect">
            <a:avLst/>
          </a:prstGeom>
          <a:noFill/>
          <a:ln/>
        </p:spPr>
        <p:txBody>
          <a:bodyPr wrap="square" lIns="0" tIns="0" rIns="0" bIns="0" rtlCol="0" anchor="ctr"/>
          <a:lstStyle/>
          <a:p>
            <a:pPr indent="0" marL="0">
              <a:buNone/>
            </a:pPr>
            <a:r>
              <a:rPr lang="en-US" sz="900" b="1" spc="100" kern="0" dirty="0">
                <a:solidFill>
                  <a:srgbClr val="121428"/>
                </a:solidFill>
              </a:rPr>
              <a:t>TECH STACK</a:t>
            </a:r>
            <a:endParaRPr lang="en-US" sz="900" dirty="0"/>
          </a:p>
        </p:txBody>
      </p:sp>
      <p:sp>
        <p:nvSpPr>
          <p:cNvPr id="29" name="Shape 27"/>
          <p:cNvSpPr/>
          <p:nvPr/>
        </p:nvSpPr>
        <p:spPr>
          <a:xfrm>
            <a:off x="713232" y="4453128"/>
            <a:ext cx="883310" cy="237744"/>
          </a:xfrm>
          <a:prstGeom prst="roundRect">
            <a:avLst>
              <a:gd name="adj" fmla="val 50000"/>
            </a:avLst>
          </a:prstGeom>
          <a:solidFill>
            <a:srgbClr val="FFFFFF"/>
          </a:solidFill>
          <a:ln w="12700">
            <a:solidFill>
              <a:srgbClr val="D6D8E2"/>
            </a:solidFill>
            <a:prstDash val="solid"/>
          </a:ln>
        </p:spPr>
      </p:sp>
      <p:sp>
        <p:nvSpPr>
          <p:cNvPr id="30" name="Text 28"/>
          <p:cNvSpPr txBox="1"/>
          <p:nvPr/>
        </p:nvSpPr>
        <p:spPr>
          <a:xfrm>
            <a:off x="713232" y="4453128"/>
            <a:ext cx="883310"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Node.js</a:t>
            </a:r>
            <a:endParaRPr lang="en-US" sz="800" dirty="0"/>
          </a:p>
        </p:txBody>
      </p:sp>
      <p:sp>
        <p:nvSpPr>
          <p:cNvPr id="31" name="Shape 29"/>
          <p:cNvSpPr/>
          <p:nvPr/>
        </p:nvSpPr>
        <p:spPr>
          <a:xfrm>
            <a:off x="1687982" y="4453128"/>
            <a:ext cx="1124712" cy="237744"/>
          </a:xfrm>
          <a:prstGeom prst="roundRect">
            <a:avLst>
              <a:gd name="adj" fmla="val 50000"/>
            </a:avLst>
          </a:prstGeom>
          <a:solidFill>
            <a:srgbClr val="FFFFFF"/>
          </a:solidFill>
          <a:ln w="12700">
            <a:solidFill>
              <a:srgbClr val="D6D8E2"/>
            </a:solidFill>
            <a:prstDash val="solid"/>
          </a:ln>
        </p:spPr>
      </p:sp>
      <p:sp>
        <p:nvSpPr>
          <p:cNvPr id="32" name="Text 30"/>
          <p:cNvSpPr txBox="1"/>
          <p:nvPr/>
        </p:nvSpPr>
        <p:spPr>
          <a:xfrm>
            <a:off x="1687982" y="4453128"/>
            <a:ext cx="1124712"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TypeScript</a:t>
            </a:r>
            <a:endParaRPr lang="en-US" sz="800" dirty="0"/>
          </a:p>
        </p:txBody>
      </p:sp>
      <p:sp>
        <p:nvSpPr>
          <p:cNvPr id="33" name="Shape 31"/>
          <p:cNvSpPr/>
          <p:nvPr/>
        </p:nvSpPr>
        <p:spPr>
          <a:xfrm>
            <a:off x="2904134" y="4453128"/>
            <a:ext cx="883310" cy="237744"/>
          </a:xfrm>
          <a:prstGeom prst="roundRect">
            <a:avLst>
              <a:gd name="adj" fmla="val 50000"/>
            </a:avLst>
          </a:prstGeom>
          <a:solidFill>
            <a:srgbClr val="FFFFFF"/>
          </a:solidFill>
          <a:ln w="12700">
            <a:solidFill>
              <a:srgbClr val="D6D8E2"/>
            </a:solidFill>
            <a:prstDash val="solid"/>
          </a:ln>
        </p:spPr>
      </p:sp>
      <p:sp>
        <p:nvSpPr>
          <p:cNvPr id="34" name="Text 32"/>
          <p:cNvSpPr txBox="1"/>
          <p:nvPr/>
        </p:nvSpPr>
        <p:spPr>
          <a:xfrm>
            <a:off x="2904134" y="4453128"/>
            <a:ext cx="883310"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Express</a:t>
            </a:r>
            <a:endParaRPr lang="en-US" sz="800" dirty="0"/>
          </a:p>
        </p:txBody>
      </p:sp>
      <p:sp>
        <p:nvSpPr>
          <p:cNvPr id="35" name="Shape 33"/>
          <p:cNvSpPr/>
          <p:nvPr/>
        </p:nvSpPr>
        <p:spPr>
          <a:xfrm>
            <a:off x="713232" y="4773168"/>
            <a:ext cx="883310" cy="237744"/>
          </a:xfrm>
          <a:prstGeom prst="roundRect">
            <a:avLst>
              <a:gd name="adj" fmla="val 50000"/>
            </a:avLst>
          </a:prstGeom>
          <a:solidFill>
            <a:srgbClr val="FFFFFF"/>
          </a:solidFill>
          <a:ln w="12700">
            <a:solidFill>
              <a:srgbClr val="D6D8E2"/>
            </a:solidFill>
            <a:prstDash val="solid"/>
          </a:ln>
        </p:spPr>
      </p:sp>
      <p:sp>
        <p:nvSpPr>
          <p:cNvPr id="36" name="Text 34"/>
          <p:cNvSpPr txBox="1"/>
          <p:nvPr/>
        </p:nvSpPr>
        <p:spPr>
          <a:xfrm>
            <a:off x="713232" y="4773168"/>
            <a:ext cx="883310"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MongoDB</a:t>
            </a:r>
            <a:endParaRPr lang="en-US" sz="800" dirty="0"/>
          </a:p>
        </p:txBody>
      </p:sp>
      <p:sp>
        <p:nvSpPr>
          <p:cNvPr id="37" name="Shape 35"/>
          <p:cNvSpPr/>
          <p:nvPr/>
        </p:nvSpPr>
        <p:spPr>
          <a:xfrm>
            <a:off x="1687982" y="4773168"/>
            <a:ext cx="963778" cy="237744"/>
          </a:xfrm>
          <a:prstGeom prst="roundRect">
            <a:avLst>
              <a:gd name="adj" fmla="val 50000"/>
            </a:avLst>
          </a:prstGeom>
          <a:solidFill>
            <a:srgbClr val="FFFFFF"/>
          </a:solidFill>
          <a:ln w="12700">
            <a:solidFill>
              <a:srgbClr val="D6D8E2"/>
            </a:solidFill>
            <a:prstDash val="solid"/>
          </a:ln>
        </p:spPr>
      </p:sp>
      <p:sp>
        <p:nvSpPr>
          <p:cNvPr id="38" name="Text 36"/>
          <p:cNvSpPr txBox="1"/>
          <p:nvPr/>
        </p:nvSpPr>
        <p:spPr>
          <a:xfrm>
            <a:off x="1687982" y="4773168"/>
            <a:ext cx="963778"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Mongoose</a:t>
            </a:r>
            <a:endParaRPr lang="en-US" sz="800" dirty="0"/>
          </a:p>
        </p:txBody>
      </p:sp>
      <p:sp>
        <p:nvSpPr>
          <p:cNvPr id="39" name="Shape 37"/>
          <p:cNvSpPr/>
          <p:nvPr/>
        </p:nvSpPr>
        <p:spPr>
          <a:xfrm>
            <a:off x="2743200" y="4773168"/>
            <a:ext cx="561442" cy="237744"/>
          </a:xfrm>
          <a:prstGeom prst="roundRect">
            <a:avLst>
              <a:gd name="adj" fmla="val 50000"/>
            </a:avLst>
          </a:prstGeom>
          <a:solidFill>
            <a:srgbClr val="FFFFFF"/>
          </a:solidFill>
          <a:ln w="12700">
            <a:solidFill>
              <a:srgbClr val="D6D8E2"/>
            </a:solidFill>
            <a:prstDash val="solid"/>
          </a:ln>
        </p:spPr>
      </p:sp>
      <p:sp>
        <p:nvSpPr>
          <p:cNvPr id="40" name="Text 38"/>
          <p:cNvSpPr txBox="1"/>
          <p:nvPr/>
        </p:nvSpPr>
        <p:spPr>
          <a:xfrm>
            <a:off x="2743200" y="4773168"/>
            <a:ext cx="561442"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JWT</a:t>
            </a:r>
            <a:endParaRPr lang="en-US" sz="800" dirty="0"/>
          </a:p>
        </p:txBody>
      </p:sp>
      <p:sp>
        <p:nvSpPr>
          <p:cNvPr id="41" name="Shape 39"/>
          <p:cNvSpPr/>
          <p:nvPr/>
        </p:nvSpPr>
        <p:spPr>
          <a:xfrm>
            <a:off x="3396082" y="4773168"/>
            <a:ext cx="883310" cy="237744"/>
          </a:xfrm>
          <a:prstGeom prst="roundRect">
            <a:avLst>
              <a:gd name="adj" fmla="val 50000"/>
            </a:avLst>
          </a:prstGeom>
          <a:solidFill>
            <a:srgbClr val="FFFFFF"/>
          </a:solidFill>
          <a:ln w="12700">
            <a:solidFill>
              <a:srgbClr val="D6D8E2"/>
            </a:solidFill>
            <a:prstDash val="solid"/>
          </a:ln>
        </p:spPr>
      </p:sp>
      <p:sp>
        <p:nvSpPr>
          <p:cNvPr id="42" name="Text 40"/>
          <p:cNvSpPr txBox="1"/>
          <p:nvPr/>
        </p:nvSpPr>
        <p:spPr>
          <a:xfrm>
            <a:off x="3396082" y="4773168"/>
            <a:ext cx="883310"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Swagger</a:t>
            </a:r>
            <a:endParaRPr lang="en-US" sz="800" dirty="0"/>
          </a:p>
        </p:txBody>
      </p:sp>
      <p:sp>
        <p:nvSpPr>
          <p:cNvPr id="43" name="Shape 41"/>
          <p:cNvSpPr/>
          <p:nvPr/>
        </p:nvSpPr>
        <p:spPr>
          <a:xfrm>
            <a:off x="713232" y="5093208"/>
            <a:ext cx="802843" cy="237744"/>
          </a:xfrm>
          <a:prstGeom prst="roundRect">
            <a:avLst>
              <a:gd name="adj" fmla="val 50000"/>
            </a:avLst>
          </a:prstGeom>
          <a:solidFill>
            <a:srgbClr val="FFFFFF"/>
          </a:solidFill>
          <a:ln w="12700">
            <a:solidFill>
              <a:srgbClr val="D6D8E2"/>
            </a:solidFill>
            <a:prstDash val="solid"/>
          </a:ln>
        </p:spPr>
      </p:sp>
      <p:sp>
        <p:nvSpPr>
          <p:cNvPr id="44" name="Text 42"/>
          <p:cNvSpPr txBox="1"/>
          <p:nvPr/>
        </p:nvSpPr>
        <p:spPr>
          <a:xfrm>
            <a:off x="713232" y="5093208"/>
            <a:ext cx="802843"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Docker</a:t>
            </a:r>
            <a:endParaRPr lang="en-US" sz="800" dirty="0"/>
          </a:p>
        </p:txBody>
      </p:sp>
      <p:sp>
        <p:nvSpPr>
          <p:cNvPr id="45" name="Shape 43"/>
          <p:cNvSpPr/>
          <p:nvPr/>
        </p:nvSpPr>
        <p:spPr>
          <a:xfrm>
            <a:off x="1607515" y="5093208"/>
            <a:ext cx="1285646" cy="237744"/>
          </a:xfrm>
          <a:prstGeom prst="roundRect">
            <a:avLst>
              <a:gd name="adj" fmla="val 50000"/>
            </a:avLst>
          </a:prstGeom>
          <a:solidFill>
            <a:srgbClr val="FFFFFF"/>
          </a:solidFill>
          <a:ln w="12700">
            <a:solidFill>
              <a:srgbClr val="D6D8E2"/>
            </a:solidFill>
            <a:prstDash val="solid"/>
          </a:ln>
        </p:spPr>
      </p:sp>
      <p:sp>
        <p:nvSpPr>
          <p:cNvPr id="46" name="Text 44"/>
          <p:cNvSpPr txBox="1"/>
          <p:nvPr/>
        </p:nvSpPr>
        <p:spPr>
          <a:xfrm>
            <a:off x="1607515" y="5093208"/>
            <a:ext cx="1285646"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Git / GitHub</a:t>
            </a:r>
            <a:endParaRPr lang="en-US" sz="800" dirty="0"/>
          </a:p>
        </p:txBody>
      </p:sp>
      <p:sp>
        <p:nvSpPr>
          <p:cNvPr id="47" name="Shape 45"/>
          <p:cNvSpPr/>
          <p:nvPr/>
        </p:nvSpPr>
        <p:spPr>
          <a:xfrm>
            <a:off x="548640" y="5294376"/>
            <a:ext cx="3931920" cy="868680"/>
          </a:xfrm>
          <a:prstGeom prst="roundRect">
            <a:avLst>
              <a:gd name="adj" fmla="val 6316"/>
            </a:avLst>
          </a:prstGeom>
          <a:solidFill>
            <a:srgbClr val="F1F1F5"/>
          </a:solidFill>
          <a:ln/>
        </p:spPr>
      </p:sp>
      <p:sp>
        <p:nvSpPr>
          <p:cNvPr id="48" name="Shape 46"/>
          <p:cNvSpPr/>
          <p:nvPr/>
        </p:nvSpPr>
        <p:spPr>
          <a:xfrm>
            <a:off x="548640" y="5294376"/>
            <a:ext cx="32004" cy="868680"/>
          </a:xfrm>
          <a:prstGeom prst="rect">
            <a:avLst/>
          </a:prstGeom>
          <a:solidFill>
            <a:srgbClr val="3355CC"/>
          </a:solidFill>
          <a:ln/>
        </p:spPr>
      </p:sp>
      <p:sp>
        <p:nvSpPr>
          <p:cNvPr id="49" name="Text 47"/>
          <p:cNvSpPr txBox="1"/>
          <p:nvPr/>
        </p:nvSpPr>
        <p:spPr>
          <a:xfrm>
            <a:off x="713232" y="5413248"/>
            <a:ext cx="3602736" cy="640080"/>
          </a:xfrm>
          <a:prstGeom prst="rect">
            <a:avLst/>
          </a:prstGeom>
          <a:noFill/>
          <a:ln/>
        </p:spPr>
        <p:txBody>
          <a:bodyPr wrap="square" lIns="0" tIns="0" rIns="0" bIns="0" rtlCol="0" anchor="ctr"/>
          <a:lstStyle/>
          <a:p>
            <a:pPr indent="0" marL="0">
              <a:lnSpc>
                <a:spcPct val="135000"/>
              </a:lnSpc>
              <a:buNone/>
            </a:pPr>
            <a:r>
              <a:rPr lang="en-US" sz="900" dirty="0">
                <a:solidFill>
                  <a:srgbClr val="444858"/>
                </a:solidFill>
                <a:latin typeface="Malgun Gothic" pitchFamily="34" charset="0"/>
                <a:ea typeface="Malgun Gothic" pitchFamily="34" charset="-122"/>
                <a:cs typeface="Malgun Gothic" pitchFamily="34" charset="-120"/>
              </a:rPr>
              <a:t>게임 프로그래머로서 Unity 클라이언트 개발이 중심이지만, 이 프로젝트를 통해 서버·클라이언트가 통신하는 구조를 별도로 구현해 확인했습니다.</a:t>
            </a:r>
            <a:endParaRPr lang="en-US" sz="900" dirty="0"/>
          </a:p>
        </p:txBody>
      </p:sp>
      <p:sp>
        <p:nvSpPr>
          <p:cNvPr id="50" name="Text 48"/>
          <p:cNvSpPr txBox="1"/>
          <p:nvPr/>
        </p:nvSpPr>
        <p:spPr>
          <a:xfrm>
            <a:off x="4709160" y="2231136"/>
            <a:ext cx="6931152" cy="182880"/>
          </a:xfrm>
          <a:prstGeom prst="rect">
            <a:avLst/>
          </a:prstGeom>
          <a:noFill/>
          <a:ln/>
        </p:spPr>
        <p:txBody>
          <a:bodyPr wrap="square" lIns="0" tIns="0" rIns="0" bIns="0" rtlCol="0" anchor="ctr"/>
          <a:lstStyle/>
          <a:p>
            <a:pPr indent="0" marL="0">
              <a:buNone/>
            </a:pPr>
            <a:r>
              <a:rPr lang="en-US" sz="900" b="1" dirty="0">
                <a:solidFill>
                  <a:srgbClr val="3355CC"/>
                </a:solidFill>
                <a:latin typeface="Malgun Gothic" pitchFamily="34" charset="0"/>
                <a:ea typeface="Malgun Gothic" pitchFamily="34" charset="-122"/>
                <a:cs typeface="Malgun Gothic" pitchFamily="34" charset="-120"/>
              </a:rPr>
              <a:t>01 — AUTHENTICATION &amp; API</a:t>
            </a:r>
            <a:endParaRPr lang="en-US" sz="900" dirty="0"/>
          </a:p>
        </p:txBody>
      </p:sp>
      <p:sp>
        <p:nvSpPr>
          <p:cNvPr id="51" name="Text 49"/>
          <p:cNvSpPr txBox="1"/>
          <p:nvPr/>
        </p:nvSpPr>
        <p:spPr>
          <a:xfrm>
            <a:off x="4709160" y="2414016"/>
            <a:ext cx="6931152" cy="274320"/>
          </a:xfrm>
          <a:prstGeom prst="rect">
            <a:avLst/>
          </a:prstGeom>
          <a:noFill/>
          <a:ln/>
        </p:spPr>
        <p:txBody>
          <a:bodyPr wrap="square" lIns="0" tIns="0" rIns="0" bIns="0" rtlCol="0" anchor="ctr"/>
          <a:lstStyle/>
          <a:p>
            <a:pPr indent="0" marL="0">
              <a:buNone/>
            </a:pPr>
            <a:r>
              <a:rPr lang="en-US" sz="1400" b="1" dirty="0">
                <a:solidFill>
                  <a:srgbClr val="121428"/>
                </a:solidFill>
                <a:latin typeface="Malgun Gothic" pitchFamily="34" charset="0"/>
                <a:ea typeface="Malgun Gothic" pitchFamily="34" charset="-122"/>
                <a:cs typeface="Malgun Gothic" pitchFamily="34" charset="-120"/>
              </a:rPr>
              <a:t>인증부터 API까지, 서버 요청 흐름 구현</a:t>
            </a:r>
            <a:endParaRPr lang="en-US" sz="1400" dirty="0"/>
          </a:p>
        </p:txBody>
      </p:sp>
      <p:sp>
        <p:nvSpPr>
          <p:cNvPr id="52" name="Text 50"/>
          <p:cNvSpPr txBox="1"/>
          <p:nvPr/>
        </p:nvSpPr>
        <p:spPr>
          <a:xfrm>
            <a:off x="4709160" y="2724912"/>
            <a:ext cx="6931152" cy="457200"/>
          </a:xfrm>
          <a:prstGeom prst="rect">
            <a:avLst/>
          </a:prstGeom>
          <a:noFill/>
          <a:ln/>
        </p:spPr>
        <p:txBody>
          <a:bodyPr wrap="square" lIns="0" tIns="0" rIns="0" bIns="0" rtlCol="0" anchor="ctr"/>
          <a:lstStyle/>
          <a:p>
            <a:pPr indent="0" marL="0">
              <a:lnSpc>
                <a:spcPct val="128000"/>
              </a:lnSpc>
              <a:buNone/>
            </a:pPr>
            <a:r>
              <a:rPr lang="en-US" sz="920" dirty="0">
                <a:solidFill>
                  <a:srgbClr val="444858"/>
                </a:solidFill>
                <a:latin typeface="Malgun Gothic" pitchFamily="34" charset="0"/>
                <a:ea typeface="Malgun Gothic" pitchFamily="34" charset="-122"/>
                <a:cs typeface="Malgun Gothic" pitchFamily="34" charset="-120"/>
              </a:rPr>
              <a:t>로그인 시 JWT Access Token과 Refresh Token을 발급하고, 인증이 필요한 API는 미들웨어에서 토큰을 검증하도록 구성했습니다. 만료 토큰과 유효하지 않은 토큰을 구분해 처리했습니다.</a:t>
            </a:r>
            <a:endParaRPr lang="en-US" sz="920" dirty="0"/>
          </a:p>
        </p:txBody>
      </p:sp>
      <p:sp>
        <p:nvSpPr>
          <p:cNvPr id="53" name="Shape 51"/>
          <p:cNvSpPr/>
          <p:nvPr/>
        </p:nvSpPr>
        <p:spPr>
          <a:xfrm>
            <a:off x="4709160" y="3200400"/>
            <a:ext cx="6931152" cy="310896"/>
          </a:xfrm>
          <a:prstGeom prst="roundRect">
            <a:avLst>
              <a:gd name="adj" fmla="val 17647"/>
            </a:avLst>
          </a:prstGeom>
          <a:solidFill>
            <a:srgbClr val="F1F1F5"/>
          </a:solidFill>
          <a:ln/>
        </p:spPr>
      </p:sp>
      <p:sp>
        <p:nvSpPr>
          <p:cNvPr id="54" name="Text 52"/>
          <p:cNvSpPr txBox="1"/>
          <p:nvPr/>
        </p:nvSpPr>
        <p:spPr>
          <a:xfrm>
            <a:off x="4818888" y="3200400"/>
            <a:ext cx="6711696" cy="310896"/>
          </a:xfrm>
          <a:prstGeom prst="rect">
            <a:avLst/>
          </a:prstGeom>
          <a:noFill/>
          <a:ln/>
        </p:spPr>
        <p:txBody>
          <a:bodyPr wrap="square" lIns="0" tIns="0" rIns="0" bIns="0" rtlCol="0" anchor="ctr"/>
          <a:lstStyle/>
          <a:p>
            <a:pPr indent="0" marL="0">
              <a:buNone/>
            </a:pPr>
            <a:r>
              <a:rPr lang="en-US" sz="850" b="1" dirty="0">
                <a:solidFill>
                  <a:srgbClr val="1F2A6B"/>
                </a:solidFill>
                <a:latin typeface="Malgun Gothic" pitchFamily="34" charset="0"/>
                <a:ea typeface="Malgun Gothic" pitchFamily="34" charset="-122"/>
                <a:cs typeface="Malgun Gothic" pitchFamily="34" charset="-120"/>
              </a:rPr>
              <a:t>PHONE VERIFICATION   </a:t>
            </a:r>
            <a:pPr indent="0" marL="0">
              <a:buNone/>
            </a:pPr>
            <a:r>
              <a:rPr lang="en-US" sz="870" dirty="0">
                <a:solidFill>
                  <a:srgbClr val="444858"/>
                </a:solidFill>
                <a:latin typeface="Malgun Gothic" pitchFamily="34" charset="0"/>
                <a:ea typeface="Malgun Gothic" pitchFamily="34" charset="-122"/>
                <a:cs typeface="Malgun Gothic" pitchFamily="34" charset="-120"/>
              </a:rPr>
              <a:t>SMS 인증번호를 bcrypt로 해싱 저장, 5분 만료·재전송 제한·시도 횟수를 관리했습니다.</a:t>
            </a:r>
            <a:endParaRPr lang="en-US" sz="850" dirty="0"/>
          </a:p>
        </p:txBody>
      </p:sp>
      <p:sp>
        <p:nvSpPr>
          <p:cNvPr id="55" name="Shape 53"/>
          <p:cNvSpPr/>
          <p:nvPr/>
        </p:nvSpPr>
        <p:spPr>
          <a:xfrm>
            <a:off x="4709160" y="3602736"/>
            <a:ext cx="6931152" cy="347472"/>
          </a:xfrm>
          <a:prstGeom prst="roundRect">
            <a:avLst>
              <a:gd name="adj" fmla="val 13158"/>
            </a:avLst>
          </a:prstGeom>
          <a:solidFill>
            <a:srgbClr val="13151F"/>
          </a:solidFill>
          <a:ln/>
        </p:spPr>
      </p:sp>
      <p:sp>
        <p:nvSpPr>
          <p:cNvPr id="56" name="Text 54"/>
          <p:cNvSpPr txBox="1"/>
          <p:nvPr/>
        </p:nvSpPr>
        <p:spPr>
          <a:xfrm>
            <a:off x="4873752" y="3602736"/>
            <a:ext cx="6601968" cy="347472"/>
          </a:xfrm>
          <a:prstGeom prst="rect">
            <a:avLst/>
          </a:prstGeom>
          <a:noFill/>
          <a:ln/>
        </p:spPr>
        <p:txBody>
          <a:bodyPr wrap="square" lIns="0" tIns="0" rIns="0" bIns="0" rtlCol="0" anchor="ctr"/>
          <a:lstStyle/>
          <a:p>
            <a:pPr indent="0" marL="0">
              <a:buNone/>
            </a:pPr>
            <a:r>
              <a:rPr lang="en-US" sz="800" b="1" spc="100" kern="0" dirty="0">
                <a:solidFill>
                  <a:srgbClr val="8890B8"/>
                </a:solidFill>
                <a:latin typeface="Malgun Gothic" pitchFamily="34" charset="0"/>
                <a:ea typeface="Malgun Gothic" pitchFamily="34" charset="-122"/>
                <a:cs typeface="Malgun Gothic" pitchFamily="34" charset="-120"/>
              </a:rPr>
              <a:t>AUTH FLOW      </a:t>
            </a:r>
            <a:pPr indent="0" marL="0">
              <a:buNone/>
            </a:pPr>
            <a:r>
              <a:rPr lang="en-US" sz="950" b="1" dirty="0">
                <a:solidFill>
                  <a:srgbClr val="FFFFFF"/>
                </a:solidFill>
                <a:latin typeface="Consolas" pitchFamily="34" charset="0"/>
                <a:ea typeface="Consolas" pitchFamily="34" charset="-122"/>
                <a:cs typeface="Consolas" pitchFamily="34" charset="-120"/>
              </a:rPr>
              <a:t>Client → JWT Middleware → API</a:t>
            </a:r>
            <a:endParaRPr lang="en-US" sz="800" dirty="0"/>
          </a:p>
        </p:txBody>
      </p:sp>
      <p:sp>
        <p:nvSpPr>
          <p:cNvPr id="57" name="Text 55"/>
          <p:cNvSpPr txBox="1"/>
          <p:nvPr/>
        </p:nvSpPr>
        <p:spPr>
          <a:xfrm>
            <a:off x="4709160" y="4160520"/>
            <a:ext cx="6931152" cy="182880"/>
          </a:xfrm>
          <a:prstGeom prst="rect">
            <a:avLst/>
          </a:prstGeom>
          <a:noFill/>
          <a:ln/>
        </p:spPr>
        <p:txBody>
          <a:bodyPr wrap="square" lIns="0" tIns="0" rIns="0" bIns="0" rtlCol="0" anchor="ctr"/>
          <a:lstStyle/>
          <a:p>
            <a:pPr indent="0" marL="0">
              <a:buNone/>
            </a:pPr>
            <a:r>
              <a:rPr lang="en-US" sz="900" b="1" dirty="0">
                <a:solidFill>
                  <a:srgbClr val="3355CC"/>
                </a:solidFill>
                <a:latin typeface="Malgun Gothic" pitchFamily="34" charset="0"/>
                <a:ea typeface="Malgun Gothic" pitchFamily="34" charset="-122"/>
                <a:cs typeface="Malgun Gothic" pitchFamily="34" charset="-120"/>
              </a:rPr>
              <a:t>02 — GAME-LIKE SERVICE LOGIC</a:t>
            </a:r>
            <a:endParaRPr lang="en-US" sz="900" dirty="0"/>
          </a:p>
        </p:txBody>
      </p:sp>
      <p:sp>
        <p:nvSpPr>
          <p:cNvPr id="58" name="Text 56"/>
          <p:cNvSpPr txBox="1"/>
          <p:nvPr/>
        </p:nvSpPr>
        <p:spPr>
          <a:xfrm>
            <a:off x="4709160" y="4343400"/>
            <a:ext cx="6931152" cy="274320"/>
          </a:xfrm>
          <a:prstGeom prst="rect">
            <a:avLst/>
          </a:prstGeom>
          <a:noFill/>
          <a:ln/>
        </p:spPr>
        <p:txBody>
          <a:bodyPr wrap="square" lIns="0" tIns="0" rIns="0" bIns="0" rtlCol="0" anchor="ctr"/>
          <a:lstStyle/>
          <a:p>
            <a:pPr indent="0" marL="0">
              <a:buNone/>
            </a:pPr>
            <a:r>
              <a:rPr lang="en-US" sz="1400" b="1" dirty="0">
                <a:solidFill>
                  <a:srgbClr val="121428"/>
                </a:solidFill>
                <a:latin typeface="Malgun Gothic" pitchFamily="34" charset="0"/>
                <a:ea typeface="Malgun Gothic" pitchFamily="34" charset="-122"/>
                <a:cs typeface="Malgun Gothic" pitchFamily="34" charset="-120"/>
              </a:rPr>
              <a:t>여러 기능이 연결되는 서비스 로직 구현</a:t>
            </a:r>
            <a:endParaRPr lang="en-US" sz="1400" dirty="0"/>
          </a:p>
        </p:txBody>
      </p:sp>
      <p:sp>
        <p:nvSpPr>
          <p:cNvPr id="59" name="Text 57"/>
          <p:cNvSpPr txBox="1"/>
          <p:nvPr/>
        </p:nvSpPr>
        <p:spPr>
          <a:xfrm>
            <a:off x="4709160" y="4663440"/>
            <a:ext cx="3977640" cy="182880"/>
          </a:xfrm>
          <a:prstGeom prst="rect">
            <a:avLst/>
          </a:prstGeom>
          <a:noFill/>
          <a:ln/>
        </p:spPr>
        <p:txBody>
          <a:bodyPr wrap="square" lIns="0" tIns="0" rIns="0" bIns="0" rtlCol="0" anchor="ctr"/>
          <a:lstStyle/>
          <a:p>
            <a:pPr indent="0" marL="0">
              <a:buNone/>
            </a:pPr>
            <a:r>
              <a:rPr lang="en-US" sz="850" b="1" dirty="0">
                <a:solidFill>
                  <a:srgbClr val="121428"/>
                </a:solidFill>
              </a:rPr>
              <a:t>NOTIFICATION SYSTEM</a:t>
            </a:r>
            <a:endParaRPr lang="en-US" sz="850" dirty="0"/>
          </a:p>
        </p:txBody>
      </p:sp>
      <p:sp>
        <p:nvSpPr>
          <p:cNvPr id="60" name="Text 58"/>
          <p:cNvSpPr txBox="1"/>
          <p:nvPr/>
        </p:nvSpPr>
        <p:spPr>
          <a:xfrm>
            <a:off x="4709160" y="4864608"/>
            <a:ext cx="3977640" cy="502920"/>
          </a:xfrm>
          <a:prstGeom prst="rect">
            <a:avLst/>
          </a:prstGeom>
          <a:noFill/>
          <a:ln/>
        </p:spPr>
        <p:txBody>
          <a:bodyPr wrap="square" lIns="0" tIns="0" rIns="0" bIns="0" rtlCol="0" anchor="ctr"/>
          <a:lstStyle/>
          <a:p>
            <a:pPr indent="0" marL="0">
              <a:lnSpc>
                <a:spcPct val="125000"/>
              </a:lnSpc>
              <a:buNone/>
            </a:pPr>
            <a:r>
              <a:rPr lang="en-US" sz="840" dirty="0">
                <a:solidFill>
                  <a:srgbClr val="444858"/>
                </a:solidFill>
                <a:latin typeface="Malgun Gothic" pitchFamily="34" charset="0"/>
                <a:ea typeface="Malgun Gothic" pitchFamily="34" charset="-122"/>
                <a:cs typeface="Malgun Gothic" pitchFamily="34" charset="-120"/>
              </a:rPr>
              <a:t>알림 Model·Service·Controller·Route를 구현해 팀 가입·매칭 신청·매칭 수락 등 기존 기능과 연결했습니다. 사용자별 조회, 읽지 않은 개수 조회, 읽음 처리 API를 구현했습니다.</a:t>
            </a:r>
            <a:endParaRPr lang="en-US" sz="840" dirty="0"/>
          </a:p>
        </p:txBody>
      </p:sp>
      <p:sp>
        <p:nvSpPr>
          <p:cNvPr id="61" name="Shape 59"/>
          <p:cNvSpPr/>
          <p:nvPr/>
        </p:nvSpPr>
        <p:spPr>
          <a:xfrm>
            <a:off x="4709160" y="5358384"/>
            <a:ext cx="817199" cy="201168"/>
          </a:xfrm>
          <a:prstGeom prst="roundRect">
            <a:avLst>
              <a:gd name="adj" fmla="val 50000"/>
            </a:avLst>
          </a:prstGeom>
          <a:solidFill>
            <a:srgbClr val="F1F1F5"/>
          </a:solidFill>
          <a:ln w="12700">
            <a:solidFill>
              <a:srgbClr val="E4E4EC"/>
            </a:solidFill>
            <a:prstDash val="solid"/>
          </a:ln>
        </p:spPr>
      </p:sp>
      <p:sp>
        <p:nvSpPr>
          <p:cNvPr id="62" name="Text 60"/>
          <p:cNvSpPr txBox="1"/>
          <p:nvPr/>
        </p:nvSpPr>
        <p:spPr>
          <a:xfrm>
            <a:off x="4709160" y="5358384"/>
            <a:ext cx="817199" cy="201168"/>
          </a:xfrm>
          <a:prstGeom prst="rect">
            <a:avLst/>
          </a:prstGeom>
          <a:noFill/>
          <a:ln/>
        </p:spPr>
        <p:txBody>
          <a:bodyPr wrap="square" lIns="0" tIns="0" rIns="0" bIns="0" rtlCol="0" anchor="ctr"/>
          <a:lstStyle/>
          <a:p>
            <a:pPr algn="ctr" indent="0" marL="0">
              <a:buNone/>
            </a:pPr>
            <a:r>
              <a:rPr lang="en-US" sz="630" dirty="0">
                <a:solidFill>
                  <a:srgbClr val="444858"/>
                </a:solidFill>
                <a:latin typeface="Malgun Gothic" pitchFamily="34" charset="0"/>
                <a:ea typeface="Malgun Gothic" pitchFamily="34" charset="-122"/>
                <a:cs typeface="Malgun Gothic" pitchFamily="34" charset="-120"/>
              </a:rPr>
              <a:t>Team Join</a:t>
            </a:r>
            <a:endParaRPr lang="en-US" sz="630" dirty="0"/>
          </a:p>
        </p:txBody>
      </p:sp>
      <p:sp>
        <p:nvSpPr>
          <p:cNvPr id="63" name="Shape 61"/>
          <p:cNvSpPr/>
          <p:nvPr/>
        </p:nvSpPr>
        <p:spPr>
          <a:xfrm>
            <a:off x="5590367" y="5358384"/>
            <a:ext cx="943935" cy="201168"/>
          </a:xfrm>
          <a:prstGeom prst="roundRect">
            <a:avLst>
              <a:gd name="adj" fmla="val 50000"/>
            </a:avLst>
          </a:prstGeom>
          <a:solidFill>
            <a:srgbClr val="F1F1F5"/>
          </a:solidFill>
          <a:ln w="12700">
            <a:solidFill>
              <a:srgbClr val="E4E4EC"/>
            </a:solidFill>
            <a:prstDash val="solid"/>
          </a:ln>
        </p:spPr>
      </p:sp>
      <p:sp>
        <p:nvSpPr>
          <p:cNvPr id="64" name="Text 62"/>
          <p:cNvSpPr txBox="1"/>
          <p:nvPr/>
        </p:nvSpPr>
        <p:spPr>
          <a:xfrm>
            <a:off x="5590367" y="5358384"/>
            <a:ext cx="943935" cy="201168"/>
          </a:xfrm>
          <a:prstGeom prst="rect">
            <a:avLst/>
          </a:prstGeom>
          <a:noFill/>
          <a:ln/>
        </p:spPr>
        <p:txBody>
          <a:bodyPr wrap="square" lIns="0" tIns="0" rIns="0" bIns="0" rtlCol="0" anchor="ctr"/>
          <a:lstStyle/>
          <a:p>
            <a:pPr algn="ctr" indent="0" marL="0">
              <a:buNone/>
            </a:pPr>
            <a:r>
              <a:rPr lang="en-US" sz="630" dirty="0">
                <a:solidFill>
                  <a:srgbClr val="444858"/>
                </a:solidFill>
                <a:latin typeface="Malgun Gothic" pitchFamily="34" charset="0"/>
                <a:ea typeface="Malgun Gothic" pitchFamily="34" charset="-122"/>
                <a:cs typeface="Malgun Gothic" pitchFamily="34" charset="-120"/>
              </a:rPr>
              <a:t>Match Apply</a:t>
            </a:r>
            <a:endParaRPr lang="en-US" sz="630" dirty="0"/>
          </a:p>
        </p:txBody>
      </p:sp>
      <p:sp>
        <p:nvSpPr>
          <p:cNvPr id="65" name="Shape 63"/>
          <p:cNvSpPr/>
          <p:nvPr/>
        </p:nvSpPr>
        <p:spPr>
          <a:xfrm>
            <a:off x="6598310" y="5358384"/>
            <a:ext cx="1007303" cy="201168"/>
          </a:xfrm>
          <a:prstGeom prst="roundRect">
            <a:avLst>
              <a:gd name="adj" fmla="val 50000"/>
            </a:avLst>
          </a:prstGeom>
          <a:solidFill>
            <a:srgbClr val="F1F1F5"/>
          </a:solidFill>
          <a:ln w="12700">
            <a:solidFill>
              <a:srgbClr val="E4E4EC"/>
            </a:solidFill>
            <a:prstDash val="solid"/>
          </a:ln>
        </p:spPr>
      </p:sp>
      <p:sp>
        <p:nvSpPr>
          <p:cNvPr id="66" name="Text 64"/>
          <p:cNvSpPr txBox="1"/>
          <p:nvPr/>
        </p:nvSpPr>
        <p:spPr>
          <a:xfrm>
            <a:off x="6598310" y="5358384"/>
            <a:ext cx="1007303" cy="201168"/>
          </a:xfrm>
          <a:prstGeom prst="rect">
            <a:avLst/>
          </a:prstGeom>
          <a:noFill/>
          <a:ln/>
        </p:spPr>
        <p:txBody>
          <a:bodyPr wrap="square" lIns="0" tIns="0" rIns="0" bIns="0" rtlCol="0" anchor="ctr"/>
          <a:lstStyle/>
          <a:p>
            <a:pPr algn="ctr" indent="0" marL="0">
              <a:buNone/>
            </a:pPr>
            <a:r>
              <a:rPr lang="en-US" sz="630" dirty="0">
                <a:solidFill>
                  <a:srgbClr val="444858"/>
                </a:solidFill>
                <a:latin typeface="Malgun Gothic" pitchFamily="34" charset="0"/>
                <a:ea typeface="Malgun Gothic" pitchFamily="34" charset="-122"/>
                <a:cs typeface="Malgun Gothic" pitchFamily="34" charset="-120"/>
              </a:rPr>
              <a:t>Match Accept</a:t>
            </a:r>
            <a:endParaRPr lang="en-US" sz="630" dirty="0"/>
          </a:p>
        </p:txBody>
      </p:sp>
      <p:sp>
        <p:nvSpPr>
          <p:cNvPr id="67" name="Shape 65"/>
          <p:cNvSpPr/>
          <p:nvPr/>
        </p:nvSpPr>
        <p:spPr>
          <a:xfrm>
            <a:off x="7669621" y="5358384"/>
            <a:ext cx="1007303" cy="201168"/>
          </a:xfrm>
          <a:prstGeom prst="roundRect">
            <a:avLst>
              <a:gd name="adj" fmla="val 50000"/>
            </a:avLst>
          </a:prstGeom>
          <a:solidFill>
            <a:srgbClr val="F1F1F5"/>
          </a:solidFill>
          <a:ln w="12700">
            <a:solidFill>
              <a:srgbClr val="E4E4EC"/>
            </a:solidFill>
            <a:prstDash val="solid"/>
          </a:ln>
        </p:spPr>
      </p:sp>
      <p:sp>
        <p:nvSpPr>
          <p:cNvPr id="68" name="Text 66"/>
          <p:cNvSpPr txBox="1"/>
          <p:nvPr/>
        </p:nvSpPr>
        <p:spPr>
          <a:xfrm>
            <a:off x="7669621" y="5358384"/>
            <a:ext cx="1007303" cy="201168"/>
          </a:xfrm>
          <a:prstGeom prst="rect">
            <a:avLst/>
          </a:prstGeom>
          <a:noFill/>
          <a:ln/>
        </p:spPr>
        <p:txBody>
          <a:bodyPr wrap="square" lIns="0" tIns="0" rIns="0" bIns="0" rtlCol="0" anchor="ctr"/>
          <a:lstStyle/>
          <a:p>
            <a:pPr algn="ctr" indent="0" marL="0">
              <a:buNone/>
            </a:pPr>
            <a:r>
              <a:rPr lang="en-US" sz="630" dirty="0">
                <a:solidFill>
                  <a:srgbClr val="444858"/>
                </a:solidFill>
                <a:latin typeface="Malgun Gothic" pitchFamily="34" charset="0"/>
                <a:ea typeface="Malgun Gothic" pitchFamily="34" charset="-122"/>
                <a:cs typeface="Malgun Gothic" pitchFamily="34" charset="-120"/>
              </a:rPr>
              <a:t>Notification</a:t>
            </a:r>
            <a:endParaRPr lang="en-US" sz="630" dirty="0"/>
          </a:p>
        </p:txBody>
      </p:sp>
      <p:sp>
        <p:nvSpPr>
          <p:cNvPr id="69" name="Text 67"/>
          <p:cNvSpPr txBox="1"/>
          <p:nvPr/>
        </p:nvSpPr>
        <p:spPr>
          <a:xfrm>
            <a:off x="8961120" y="4663440"/>
            <a:ext cx="2679192" cy="182880"/>
          </a:xfrm>
          <a:prstGeom prst="rect">
            <a:avLst/>
          </a:prstGeom>
          <a:noFill/>
          <a:ln/>
        </p:spPr>
        <p:txBody>
          <a:bodyPr wrap="square" lIns="0" tIns="0" rIns="0" bIns="0" rtlCol="0" anchor="ctr"/>
          <a:lstStyle/>
          <a:p>
            <a:pPr indent="0" marL="0">
              <a:buNone/>
            </a:pPr>
            <a:r>
              <a:rPr lang="en-US" sz="850" b="1" dirty="0">
                <a:solidFill>
                  <a:srgbClr val="121428"/>
                </a:solidFill>
              </a:rPr>
              <a:t>TEAM RATING</a:t>
            </a:r>
            <a:endParaRPr lang="en-US" sz="850" dirty="0"/>
          </a:p>
        </p:txBody>
      </p:sp>
      <p:sp>
        <p:nvSpPr>
          <p:cNvPr id="70" name="Text 68"/>
          <p:cNvSpPr txBox="1"/>
          <p:nvPr/>
        </p:nvSpPr>
        <p:spPr>
          <a:xfrm>
            <a:off x="8961120" y="4864608"/>
            <a:ext cx="2679192" cy="548640"/>
          </a:xfrm>
          <a:prstGeom prst="rect">
            <a:avLst/>
          </a:prstGeom>
          <a:noFill/>
          <a:ln/>
        </p:spPr>
        <p:txBody>
          <a:bodyPr wrap="square" lIns="0" tIns="0" rIns="0" bIns="0" rtlCol="0" anchor="ctr"/>
          <a:lstStyle/>
          <a:p>
            <a:pPr indent="0" marL="0">
              <a:lnSpc>
                <a:spcPct val="125000"/>
              </a:lnSpc>
              <a:buNone/>
            </a:pPr>
            <a:r>
              <a:rPr lang="en-US" sz="840" dirty="0">
                <a:solidFill>
                  <a:srgbClr val="444858"/>
                </a:solidFill>
                <a:latin typeface="Malgun Gothic" pitchFamily="34" charset="0"/>
                <a:ea typeface="Malgun Gothic" pitchFamily="34" charset="-122"/>
                <a:cs typeface="Malgun Gothic" pitchFamily="34" charset="-120"/>
              </a:rPr>
              <a:t>경기 이후 0~5점 평점과 코멘트 기능을 구현했습니다. 자기 팀 평가와 중복 평가를 방지하고, 수정 시 평균 평점이 다시 반영되도록 처리했습니다.</a:t>
            </a:r>
            <a:endParaRPr lang="en-US" sz="840" dirty="0"/>
          </a:p>
        </p:txBody>
      </p:sp>
      <p:sp>
        <p:nvSpPr>
          <p:cNvPr id="71" name="Shape 69"/>
          <p:cNvSpPr/>
          <p:nvPr/>
        </p:nvSpPr>
        <p:spPr>
          <a:xfrm>
            <a:off x="4709160" y="5650992"/>
            <a:ext cx="6931152" cy="1508760"/>
          </a:xfrm>
          <a:prstGeom prst="roundRect">
            <a:avLst>
              <a:gd name="adj" fmla="val 3636"/>
            </a:avLst>
          </a:prstGeom>
          <a:solidFill>
            <a:srgbClr val="0E1017"/>
          </a:solidFill>
          <a:ln/>
        </p:spPr>
      </p:sp>
      <p:sp>
        <p:nvSpPr>
          <p:cNvPr id="72" name="Text 70"/>
          <p:cNvSpPr txBox="1"/>
          <p:nvPr/>
        </p:nvSpPr>
        <p:spPr>
          <a:xfrm>
            <a:off x="4873752" y="5742432"/>
            <a:ext cx="3931920" cy="201168"/>
          </a:xfrm>
          <a:prstGeom prst="rect">
            <a:avLst/>
          </a:prstGeom>
          <a:noFill/>
          <a:ln/>
        </p:spPr>
        <p:txBody>
          <a:bodyPr wrap="square" lIns="0" tIns="0" rIns="0" bIns="0" rtlCol="0" anchor="ctr"/>
          <a:lstStyle/>
          <a:p>
            <a:pPr indent="0" marL="0">
              <a:buNone/>
            </a:pPr>
            <a:r>
              <a:rPr lang="en-US" sz="950" b="1" dirty="0">
                <a:solidFill>
                  <a:srgbClr val="6E8CFF"/>
                </a:solidFill>
                <a:latin typeface="Malgun Gothic" pitchFamily="34" charset="0"/>
                <a:ea typeface="Malgun Gothic" pitchFamily="34" charset="-122"/>
                <a:cs typeface="Malgun Gothic" pitchFamily="34" charset="-120"/>
              </a:rPr>
              <a:t>03 — 로컬에서 끝내지 않고 실제 서버 환경까지</a:t>
            </a:r>
            <a:endParaRPr lang="en-US" sz="950" dirty="0"/>
          </a:p>
        </p:txBody>
      </p:sp>
      <p:sp>
        <p:nvSpPr>
          <p:cNvPr id="73" name="Text 71"/>
          <p:cNvSpPr txBox="1"/>
          <p:nvPr/>
        </p:nvSpPr>
        <p:spPr>
          <a:xfrm>
            <a:off x="4873752" y="5980176"/>
            <a:ext cx="3200400" cy="502920"/>
          </a:xfrm>
          <a:prstGeom prst="rect">
            <a:avLst/>
          </a:prstGeom>
          <a:noFill/>
          <a:ln/>
        </p:spPr>
        <p:txBody>
          <a:bodyPr wrap="square" lIns="0" tIns="0" rIns="0" bIns="0" rtlCol="0" anchor="ctr"/>
          <a:lstStyle/>
          <a:p>
            <a:pPr indent="0" marL="0">
              <a:lnSpc>
                <a:spcPct val="125000"/>
              </a:lnSpc>
              <a:buNone/>
            </a:pPr>
            <a:r>
              <a:rPr lang="en-US" sz="780" dirty="0">
                <a:solidFill>
                  <a:srgbClr val="C7CADC"/>
                </a:solidFill>
                <a:latin typeface="Malgun Gothic" pitchFamily="34" charset="0"/>
                <a:ea typeface="Malgun Gothic" pitchFamily="34" charset="-122"/>
                <a:cs typeface="Malgun Gothic" pitchFamily="34" charset="-120"/>
              </a:rPr>
              <a:t>개발한 API를 Cloudtype에 배포하고, GitHub 변경 사항이 서버에 반영되도록 배포 과정을 구성했습니다.</a:t>
            </a:r>
            <a:endParaRPr lang="en-US" sz="780" dirty="0"/>
          </a:p>
        </p:txBody>
      </p:sp>
      <p:pic>
        <p:nvPicPr>
          <p:cNvPr id="74" name="Image 0" descr="/tmp/rebuild/bk_swagger.png">    </p:cNvPr>
          <p:cNvPicPr>
            <a:picLocks noChangeAspect="1"/>
          </p:cNvPicPr>
          <p:nvPr/>
        </p:nvPicPr>
        <p:blipFill>
          <a:blip r:embed="rId1"/>
          <a:stretch>
            <a:fillRect/>
          </a:stretch>
        </p:blipFill>
        <p:spPr>
          <a:xfrm>
            <a:off x="8183880" y="5961888"/>
            <a:ext cx="914400" cy="384048"/>
          </a:xfrm>
          <a:prstGeom prst="rect">
            <a:avLst/>
          </a:prstGeom>
        </p:spPr>
      </p:pic>
      <p:sp>
        <p:nvSpPr>
          <p:cNvPr id="75" name="Text 72"/>
          <p:cNvSpPr txBox="1"/>
          <p:nvPr/>
        </p:nvSpPr>
        <p:spPr>
          <a:xfrm>
            <a:off x="8183880" y="6364224"/>
            <a:ext cx="987552" cy="128016"/>
          </a:xfrm>
          <a:prstGeom prst="rect">
            <a:avLst/>
          </a:prstGeom>
          <a:noFill/>
          <a:ln/>
        </p:spPr>
        <p:txBody>
          <a:bodyPr wrap="square" lIns="0" tIns="0" rIns="0" bIns="0" rtlCol="0" anchor="ctr"/>
          <a:lstStyle/>
          <a:p>
            <a:pPr indent="0" marL="0">
              <a:buNone/>
            </a:pPr>
            <a:r>
              <a:rPr lang="en-US" sz="550" dirty="0">
                <a:solidFill>
                  <a:srgbClr val="8890B0"/>
                </a:solidFill>
                <a:latin typeface="Malgun Gothic" pitchFamily="34" charset="0"/>
                <a:ea typeface="Malgun Gothic" pitchFamily="34" charset="-122"/>
                <a:cs typeface="Malgun Gothic" pitchFamily="34" charset="-120"/>
              </a:rPr>
              <a:t>Swagger 문서 (스크린샷)</a:t>
            </a:r>
            <a:endParaRPr lang="en-US" sz="550" dirty="0"/>
          </a:p>
        </p:txBody>
      </p:sp>
      <p:pic>
        <p:nvPicPr>
          <p:cNvPr id="76" name="Image 1" descr="/tmp/rebuild/bk_env.png">    </p:cNvPr>
          <p:cNvPicPr>
            <a:picLocks noChangeAspect="1"/>
          </p:cNvPicPr>
          <p:nvPr/>
        </p:nvPicPr>
        <p:blipFill>
          <a:blip r:embed="rId2"/>
          <a:stretch>
            <a:fillRect/>
          </a:stretch>
        </p:blipFill>
        <p:spPr>
          <a:xfrm>
            <a:off x="9217152" y="5961888"/>
            <a:ext cx="914400" cy="384048"/>
          </a:xfrm>
          <a:prstGeom prst="rect">
            <a:avLst/>
          </a:prstGeom>
        </p:spPr>
      </p:pic>
      <p:sp>
        <p:nvSpPr>
          <p:cNvPr id="77" name="Text 73"/>
          <p:cNvSpPr txBox="1"/>
          <p:nvPr/>
        </p:nvSpPr>
        <p:spPr>
          <a:xfrm>
            <a:off x="9217152" y="6364224"/>
            <a:ext cx="987552" cy="128016"/>
          </a:xfrm>
          <a:prstGeom prst="rect">
            <a:avLst/>
          </a:prstGeom>
          <a:noFill/>
          <a:ln/>
        </p:spPr>
        <p:txBody>
          <a:bodyPr wrap="square" lIns="0" tIns="0" rIns="0" bIns="0" rtlCol="0" anchor="ctr"/>
          <a:lstStyle/>
          <a:p>
            <a:pPr indent="0" marL="0">
              <a:buNone/>
            </a:pPr>
            <a:r>
              <a:rPr lang="en-US" sz="550" dirty="0">
                <a:solidFill>
                  <a:srgbClr val="8890B0"/>
                </a:solidFill>
                <a:latin typeface="Malgun Gothic" pitchFamily="34" charset="0"/>
                <a:ea typeface="Malgun Gothic" pitchFamily="34" charset="-122"/>
                <a:cs typeface="Malgun Gothic" pitchFamily="34" charset="-120"/>
              </a:rPr>
              <a:t>배포 환경 변수 (마스킹)</a:t>
            </a:r>
            <a:endParaRPr lang="en-US" sz="550" dirty="0"/>
          </a:p>
        </p:txBody>
      </p:sp>
      <p:pic>
        <p:nvPicPr>
          <p:cNvPr id="78" name="Image 2" descr="/tmp/rebuild/bk_deploy.png">    </p:cNvPr>
          <p:cNvPicPr>
            <a:picLocks noChangeAspect="1"/>
          </p:cNvPicPr>
          <p:nvPr/>
        </p:nvPicPr>
        <p:blipFill>
          <a:blip r:embed="rId3"/>
          <a:stretch>
            <a:fillRect/>
          </a:stretch>
        </p:blipFill>
        <p:spPr>
          <a:xfrm>
            <a:off x="10250424" y="5961888"/>
            <a:ext cx="914400" cy="384048"/>
          </a:xfrm>
          <a:prstGeom prst="rect">
            <a:avLst/>
          </a:prstGeom>
        </p:spPr>
      </p:pic>
      <p:sp>
        <p:nvSpPr>
          <p:cNvPr id="79" name="Text 74"/>
          <p:cNvSpPr txBox="1"/>
          <p:nvPr/>
        </p:nvSpPr>
        <p:spPr>
          <a:xfrm>
            <a:off x="10250424" y="6364224"/>
            <a:ext cx="987552" cy="128016"/>
          </a:xfrm>
          <a:prstGeom prst="rect">
            <a:avLst/>
          </a:prstGeom>
          <a:noFill/>
          <a:ln/>
        </p:spPr>
        <p:txBody>
          <a:bodyPr wrap="square" lIns="0" tIns="0" rIns="0" bIns="0" rtlCol="0" anchor="ctr"/>
          <a:lstStyle/>
          <a:p>
            <a:pPr indent="0" marL="0">
              <a:buNone/>
            </a:pPr>
            <a:r>
              <a:rPr lang="en-US" sz="550" dirty="0">
                <a:solidFill>
                  <a:srgbClr val="8890B0"/>
                </a:solidFill>
                <a:latin typeface="Malgun Gothic" pitchFamily="34" charset="0"/>
                <a:ea typeface="Malgun Gothic" pitchFamily="34" charset="-122"/>
                <a:cs typeface="Malgun Gothic" pitchFamily="34" charset="-120"/>
              </a:rPr>
              <a:t>배포 이력 · 재배포</a:t>
            </a:r>
            <a:endParaRPr lang="en-US" sz="550" dirty="0"/>
          </a:p>
        </p:txBody>
      </p:sp>
      <p:sp>
        <p:nvSpPr>
          <p:cNvPr id="80" name="Shape 75"/>
          <p:cNvSpPr/>
          <p:nvPr/>
        </p:nvSpPr>
        <p:spPr>
          <a:xfrm>
            <a:off x="4873752" y="6583680"/>
            <a:ext cx="731520" cy="155448"/>
          </a:xfrm>
          <a:prstGeom prst="roundRect">
            <a:avLst>
              <a:gd name="adj" fmla="val 17647"/>
            </a:avLst>
          </a:prstGeom>
          <a:solidFill>
            <a:srgbClr val="26317A"/>
          </a:solidFill>
          <a:ln/>
        </p:spPr>
      </p:sp>
      <p:sp>
        <p:nvSpPr>
          <p:cNvPr id="81" name="Text 76"/>
          <p:cNvSpPr txBox="1"/>
          <p:nvPr/>
        </p:nvSpPr>
        <p:spPr>
          <a:xfrm>
            <a:off x="4873752" y="6583680"/>
            <a:ext cx="731520" cy="155448"/>
          </a:xfrm>
          <a:prstGeom prst="rect">
            <a:avLst/>
          </a:prstGeom>
          <a:noFill/>
          <a:ln/>
        </p:spPr>
        <p:txBody>
          <a:bodyPr wrap="square" lIns="0" tIns="0" rIns="0" bIns="0" rtlCol="0" anchor="ctr"/>
          <a:lstStyle/>
          <a:p>
            <a:pPr algn="ctr" indent="0" marL="0">
              <a:buNone/>
            </a:pPr>
            <a:r>
              <a:rPr lang="en-US" sz="630" b="1" dirty="0">
                <a:solidFill>
                  <a:srgbClr val="FFFFFF"/>
                </a:solidFill>
              </a:rPr>
              <a:t>PROBLEM 01</a:t>
            </a:r>
            <a:endParaRPr lang="en-US" sz="630" dirty="0"/>
          </a:p>
        </p:txBody>
      </p:sp>
      <p:sp>
        <p:nvSpPr>
          <p:cNvPr id="82" name="Text 77"/>
          <p:cNvSpPr txBox="1"/>
          <p:nvPr/>
        </p:nvSpPr>
        <p:spPr>
          <a:xfrm>
            <a:off x="4873752" y="6766560"/>
            <a:ext cx="3209544" cy="164592"/>
          </a:xfrm>
          <a:prstGeom prst="rect">
            <a:avLst/>
          </a:prstGeom>
          <a:noFill/>
          <a:ln/>
        </p:spPr>
        <p:txBody>
          <a:bodyPr wrap="square" lIns="0" tIns="0" rIns="0" bIns="0" rtlCol="0" anchor="ctr"/>
          <a:lstStyle/>
          <a:p>
            <a:pPr indent="0" marL="0">
              <a:buNone/>
            </a:pPr>
            <a:r>
              <a:rPr lang="en-US" sz="730" b="1" dirty="0">
                <a:solidFill>
                  <a:srgbClr val="FFFFFF"/>
                </a:solidFill>
                <a:latin typeface="Malgun Gothic" pitchFamily="34" charset="0"/>
                <a:ea typeface="Malgun Gothic" pitchFamily="34" charset="-122"/>
                <a:cs typeface="Malgun Gothic" pitchFamily="34" charset="-120"/>
              </a:rPr>
              <a:t>Local에서는 Swagger가 동작하지만 배포 서버에서는 접근할 수 없음</a:t>
            </a:r>
            <a:endParaRPr lang="en-US" sz="730" dirty="0"/>
          </a:p>
        </p:txBody>
      </p:sp>
      <p:sp>
        <p:nvSpPr>
          <p:cNvPr id="83" name="Text 78"/>
          <p:cNvSpPr txBox="1"/>
          <p:nvPr/>
        </p:nvSpPr>
        <p:spPr>
          <a:xfrm>
            <a:off x="4873752" y="6931152"/>
            <a:ext cx="3209544" cy="219456"/>
          </a:xfrm>
          <a:prstGeom prst="rect">
            <a:avLst/>
          </a:prstGeom>
          <a:noFill/>
          <a:ln/>
        </p:spPr>
        <p:txBody>
          <a:bodyPr wrap="square" lIns="0" tIns="0" rIns="0" bIns="0" rtlCol="0" anchor="ctr"/>
          <a:lstStyle/>
          <a:p>
            <a:pPr indent="0" marL="0">
              <a:lnSpc>
                <a:spcPct val="108000"/>
              </a:lnSpc>
              <a:buNone/>
            </a:pPr>
            <a:r>
              <a:rPr lang="en-US" sz="580" dirty="0">
                <a:solidFill>
                  <a:srgbClr val="9DA2BC"/>
                </a:solidFill>
                <a:latin typeface="Malgun Gothic" pitchFamily="34" charset="0"/>
                <a:ea typeface="Malgun Gothic" pitchFamily="34" charset="-122"/>
                <a:cs typeface="Malgun Gothic" pitchFamily="34" charset="-120"/>
              </a:rPr>
              <a:t>서버 실행 방식·배포 환경 확인 → 실행 스크립트를 서버 환경에 맞게 정리 → 배포 환경에서도 Swagger 접근 가능하도록 해결</a:t>
            </a:r>
            <a:endParaRPr lang="en-US" sz="580" dirty="0"/>
          </a:p>
        </p:txBody>
      </p:sp>
      <p:sp>
        <p:nvSpPr>
          <p:cNvPr id="84" name="Shape 79"/>
          <p:cNvSpPr/>
          <p:nvPr/>
        </p:nvSpPr>
        <p:spPr>
          <a:xfrm>
            <a:off x="8266176" y="6583680"/>
            <a:ext cx="731520" cy="155448"/>
          </a:xfrm>
          <a:prstGeom prst="roundRect">
            <a:avLst>
              <a:gd name="adj" fmla="val 17647"/>
            </a:avLst>
          </a:prstGeom>
          <a:solidFill>
            <a:srgbClr val="26317A"/>
          </a:solidFill>
          <a:ln/>
        </p:spPr>
      </p:sp>
      <p:sp>
        <p:nvSpPr>
          <p:cNvPr id="85" name="Text 80"/>
          <p:cNvSpPr txBox="1"/>
          <p:nvPr/>
        </p:nvSpPr>
        <p:spPr>
          <a:xfrm>
            <a:off x="8266176" y="6583680"/>
            <a:ext cx="731520" cy="155448"/>
          </a:xfrm>
          <a:prstGeom prst="rect">
            <a:avLst/>
          </a:prstGeom>
          <a:noFill/>
          <a:ln/>
        </p:spPr>
        <p:txBody>
          <a:bodyPr wrap="square" lIns="0" tIns="0" rIns="0" bIns="0" rtlCol="0" anchor="ctr"/>
          <a:lstStyle/>
          <a:p>
            <a:pPr algn="ctr" indent="0" marL="0">
              <a:buNone/>
            </a:pPr>
            <a:r>
              <a:rPr lang="en-US" sz="630" b="1" dirty="0">
                <a:solidFill>
                  <a:srgbClr val="FFFFFF"/>
                </a:solidFill>
              </a:rPr>
              <a:t>PROBLEM 02</a:t>
            </a:r>
            <a:endParaRPr lang="en-US" sz="630" dirty="0"/>
          </a:p>
        </p:txBody>
      </p:sp>
      <p:sp>
        <p:nvSpPr>
          <p:cNvPr id="86" name="Text 81"/>
          <p:cNvSpPr txBox="1"/>
          <p:nvPr/>
        </p:nvSpPr>
        <p:spPr>
          <a:xfrm>
            <a:off x="8266176" y="6766560"/>
            <a:ext cx="3209544" cy="164592"/>
          </a:xfrm>
          <a:prstGeom prst="rect">
            <a:avLst/>
          </a:prstGeom>
          <a:noFill/>
          <a:ln/>
        </p:spPr>
        <p:txBody>
          <a:bodyPr wrap="square" lIns="0" tIns="0" rIns="0" bIns="0" rtlCol="0" anchor="ctr"/>
          <a:lstStyle/>
          <a:p>
            <a:pPr indent="0" marL="0">
              <a:buNone/>
            </a:pPr>
            <a:r>
              <a:rPr lang="en-US" sz="730" b="1" dirty="0">
                <a:solidFill>
                  <a:srgbClr val="FFFFFF"/>
                </a:solidFill>
                <a:latin typeface="Malgun Gothic" pitchFamily="34" charset="0"/>
                <a:ea typeface="Malgun Gothic" pitchFamily="34" charset="-122"/>
                <a:cs typeface="Malgun Gothic" pitchFamily="34" charset="-120"/>
              </a:rPr>
              <a:t>배포 과정에서 TypeScript Compile 시 메모리 부족 발생</a:t>
            </a:r>
            <a:endParaRPr lang="en-US" sz="730" dirty="0"/>
          </a:p>
        </p:txBody>
      </p:sp>
      <p:sp>
        <p:nvSpPr>
          <p:cNvPr id="87" name="Text 82"/>
          <p:cNvSpPr txBox="1"/>
          <p:nvPr/>
        </p:nvSpPr>
        <p:spPr>
          <a:xfrm>
            <a:off x="8266176" y="6931152"/>
            <a:ext cx="3209544" cy="219456"/>
          </a:xfrm>
          <a:prstGeom prst="rect">
            <a:avLst/>
          </a:prstGeom>
          <a:noFill/>
          <a:ln/>
        </p:spPr>
        <p:txBody>
          <a:bodyPr wrap="square" lIns="0" tIns="0" rIns="0" bIns="0" rtlCol="0" anchor="ctr"/>
          <a:lstStyle/>
          <a:p>
            <a:pPr indent="0" marL="0">
              <a:lnSpc>
                <a:spcPct val="108000"/>
              </a:lnSpc>
              <a:buNone/>
            </a:pPr>
            <a:r>
              <a:rPr lang="en-US" sz="580" dirty="0">
                <a:solidFill>
                  <a:srgbClr val="9DA2BC"/>
                </a:solidFill>
                <a:latin typeface="Malgun Gothic" pitchFamily="34" charset="0"/>
                <a:ea typeface="Malgun Gothic" pitchFamily="34" charset="-122"/>
                <a:cs typeface="Malgun Gothic" pitchFamily="34" charset="-120"/>
              </a:rPr>
              <a:t>빌드 과정에서 메모리 부족이 발생하는 지점 확인 → 빌드·실행 구조를 조정 → 서버가 정상적으로 실행되도록 해결</a:t>
            </a:r>
            <a:endParaRPr lang="en-US" sz="580" dirty="0"/>
          </a:p>
        </p:txBody>
      </p:sp>
      <p:sp>
        <p:nvSpPr>
          <p:cNvPr id="88" name="Shape 83"/>
          <p:cNvSpPr/>
          <p:nvPr/>
        </p:nvSpPr>
        <p:spPr>
          <a:xfrm>
            <a:off x="548640" y="7269480"/>
            <a:ext cx="11091672" cy="274320"/>
          </a:xfrm>
          <a:prstGeom prst="roundRect">
            <a:avLst>
              <a:gd name="adj" fmla="val 20000"/>
            </a:avLst>
          </a:prstGeom>
          <a:solidFill>
            <a:srgbClr val="F1F1F5"/>
          </a:solidFill>
          <a:ln/>
        </p:spPr>
      </p:sp>
      <p:sp>
        <p:nvSpPr>
          <p:cNvPr id="89" name="Text 84"/>
          <p:cNvSpPr txBox="1"/>
          <p:nvPr/>
        </p:nvSpPr>
        <p:spPr>
          <a:xfrm>
            <a:off x="713232" y="7269480"/>
            <a:ext cx="10762488" cy="274320"/>
          </a:xfrm>
          <a:prstGeom prst="rect">
            <a:avLst/>
          </a:prstGeom>
          <a:noFill/>
          <a:ln/>
        </p:spPr>
        <p:txBody>
          <a:bodyPr wrap="square" lIns="0" tIns="0" rIns="0" bIns="0" rtlCol="0" anchor="ctr"/>
          <a:lstStyle/>
          <a:p>
            <a:pPr indent="0" marL="0">
              <a:lnSpc>
                <a:spcPct val="120000"/>
              </a:lnSpc>
              <a:buNone/>
            </a:pPr>
            <a:r>
              <a:rPr lang="en-US" sz="800" b="1" dirty="0">
                <a:solidFill>
                  <a:srgbClr val="1F2A6B"/>
                </a:solidFill>
                <a:latin typeface="Malgun Gothic" pitchFamily="34" charset="0"/>
                <a:ea typeface="Malgun Gothic" pitchFamily="34" charset="-122"/>
                <a:cs typeface="Malgun Gothic" pitchFamily="34" charset="-120"/>
              </a:rPr>
              <a:t>FROM BACKEND TO GAME SERVER   </a:t>
            </a:r>
            <a:pPr indent="0" marL="0">
              <a:lnSpc>
                <a:spcPct val="120000"/>
              </a:lnSpc>
              <a:buNone/>
            </a:pPr>
            <a:r>
              <a:rPr lang="en-US" sz="760" dirty="0">
                <a:solidFill>
                  <a:srgbClr val="444858"/>
                </a:solidFill>
                <a:latin typeface="Malgun Gothic" pitchFamily="34" charset="0"/>
                <a:ea typeface="Malgun Gothic" pitchFamily="34" charset="-122"/>
                <a:cs typeface="Malgun Gothic" pitchFamily="34" charset="-120"/>
              </a:rPr>
              <a:t>TCP 기반 게임 서버를 직접 구현한 경험은 아직 없지만, REST API와 DB를 활용한 백엔드 개발을 통해 클라이언트의 요청이 서버에서 처리되고 데이터와 연결되는 구조를 경험했습니다. 앞으로는 서버와 클라이언트가 함께 동작하는 게임 구조까지 개발 영역을 넓히고 싶습니다.</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2026-09-28T01:17:41Z</dcterms:created>
  <dcterms:modified xsi:type="dcterms:W3CDTF">2026-09-28T01:17:41Z</dcterms:modified>
</cp:coreProperties>
</file>